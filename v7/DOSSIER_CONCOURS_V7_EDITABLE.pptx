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PROPOSITION DE CONCOURS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Bibliothèque Nandjui D. Simon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Une bibliothèque habitée · Du livre à la rencontre · Deux Plateaux, Abidjan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pic>
        <p:nvPicPr>
          <p:cNvPr id="11" name="Picture 10" descr="seuil_projet_2460x2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268000"/>
            <a:ext cx="8856000" cy="748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88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PHOTOMONTAGE IA · intention de façade sur photo du site</a:t>
            </a:r>
          </a:p>
        </p:txBody>
      </p:sp>
      <p:pic>
        <p:nvPicPr>
          <p:cNvPr id="13" name="Picture 12" descr="KDemi_v3_A_arche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147" y="2448000"/>
            <a:ext cx="2759705" cy="9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80000" y="34308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Identité K&amp;Démi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0000" y="3852000"/>
            <a:ext cx="439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DEUX PLATEAUX · ABIDJAN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0000" y="4356000"/>
            <a:ext cx="4464000" cy="15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Lire le jour.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Se retrouver le soir.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0000" y="6084000"/>
            <a:ext cx="4176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92826"/>
                </a:solidFill>
                <a:latin typeface="Archivo"/>
              </a:defRPr>
            </a:pPr>
            <a:r>
              <a:t>Une adresse de quartier ouverte sur ses usages : lire, travailler, prendre un café, se réunir et prolonger la journée sous l’arbre.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80000" y="7848000"/>
            <a:ext cx="4284000" cy="0"/>
          </a:xfrm>
          <a:prstGeom prst="line">
            <a:avLst/>
          </a:prstGeom>
          <a:ln w="504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80000" y="81000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DOSSIER DE CONCOURS · V7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0000" y="8496000"/>
            <a:ext cx="39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Projet architectural et intérieur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PDF de présentation · A3 paysage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10008000"/>
            <a:ext cx="88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79746D"/>
                </a:solidFill>
                <a:latin typeface="Archivo"/>
              </a:defRPr>
            </a:pPr>
            <a:r>
              <a:t>Photomontage d’intention sur photo du site; finitions et usages proposés, non exact IFC.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LE PARTI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Du seuil à la rencontre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Un parcours simple transforme un local profond en lieu de quartier.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448000"/>
            <a:ext cx="5616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826"/>
                </a:solidFill>
                <a:latin typeface="Archivo"/>
              </a:defRPr>
            </a:pPr>
            <a:r>
              <a:t>La bibliothèque se découvre en avançant : un accueil visible dès l’entrée, une salle vitrée qui emprunte la lumière, des livres à portée de main, puis l’ombre de la terrasse.</a:t>
            </a:r>
          </a:p>
        </p:txBody>
      </p:sp>
      <p:pic>
        <p:nvPicPr>
          <p:cNvPr id="12" name="Picture 11" descr="WhatsApp_Image_2026_10_13_at_6_12_46_PM_2__1080x7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000" y="2448000"/>
            <a:ext cx="3888000" cy="280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0000" y="5302800"/>
            <a:ext cx="38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EXISTANT · grille et entrée photographiées</a:t>
            </a:r>
          </a:p>
        </p:txBody>
      </p:sp>
      <p:pic>
        <p:nvPicPr>
          <p:cNvPr id="14" name="Picture 13" descr="WhatsApp_Image_2026_10_13_at_6_12_46_PM_18__1070x7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000" y="2448000"/>
            <a:ext cx="3852000" cy="280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28000" y="5302800"/>
            <a:ext cx="38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EXISTANT · pièce bleue à requalifier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5904000"/>
            <a:ext cx="6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0000" y="6624000"/>
            <a:ext cx="2952000" cy="0"/>
          </a:xfrm>
          <a:prstGeom prst="line">
            <a:avLst/>
          </a:prstGeom>
          <a:ln w="180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0000" y="6804000"/>
            <a:ext cx="29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ARRIVER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7200000"/>
            <a:ext cx="298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Voir le comptoir depuis le seuil. Garder la grille et le passage lisibles.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8000" y="5904000"/>
            <a:ext cx="6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8000" y="6624000"/>
            <a:ext cx="2952000" cy="0"/>
          </a:xfrm>
          <a:prstGeom prst="line">
            <a:avLst/>
          </a:prstGeom>
          <a:ln w="180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68000" y="6804000"/>
            <a:ext cx="29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ÊTRE ACCUEILLI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8000" y="7200000"/>
            <a:ext cx="298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Un poste unique, assis, tourné vers les livres et attentif à la salle vitrée.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6000" y="5904000"/>
            <a:ext cx="6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96000" y="6624000"/>
            <a:ext cx="2952000" cy="0"/>
          </a:xfrm>
          <a:prstGeom prst="line">
            <a:avLst/>
          </a:prstGeom>
          <a:ln w="180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96000" y="6804000"/>
            <a:ext cx="29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CHOISIR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6000" y="7200000"/>
            <a:ext cx="298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À gauche, se réunir. À droite, lire, consulter ou travailler.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4000" y="5904000"/>
            <a:ext cx="6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124000" y="6624000"/>
            <a:ext cx="2952000" cy="0"/>
          </a:xfrm>
          <a:prstGeom prst="line">
            <a:avLst/>
          </a:prstGeom>
          <a:ln w="180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124000" y="6804000"/>
            <a:ext cx="29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PROLONGER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4000" y="7200000"/>
            <a:ext cx="298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Retrouver l’arbre, l’air du soir et la terrasse sous réserve des limites réelles.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8892000"/>
            <a:ext cx="14040000" cy="900000"/>
          </a:xfrm>
          <a:prstGeom prst="rect">
            <a:avLst/>
          </a:prstGeom>
          <a:solidFill>
            <a:srgbClr val="F8F6F2"/>
          </a:solidFill>
          <a:ln w="144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9072000"/>
            <a:ext cx="1360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LE GESTE ARCHITECTURAL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00" y="9360000"/>
            <a:ext cx="136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Libérer le centre; faire travailler les murs avec des rayonnages droits, une trame vitrée calme et un mobilier en modules réparables.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01 · LIRE LE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Le lieu donne déjà la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L’ombre, la grille et la profondeur sont les premières données du projet.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pic>
        <p:nvPicPr>
          <p:cNvPr id="11" name="Picture 10" descr="WhatsApp_Image_2026_10_13_at_5_50_23_PM_5__2380x12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40000"/>
            <a:ext cx="8568000" cy="45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6922800"/>
            <a:ext cx="856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grand arbre et espace extérieur, position à relever</a:t>
            </a:r>
          </a:p>
        </p:txBody>
      </p:sp>
      <p:pic>
        <p:nvPicPr>
          <p:cNvPr id="13" name="Picture 12" descr="WhatsApp_Image_2026_10_13_at_6_12_46_PM_2__1470x9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000" y="2340000"/>
            <a:ext cx="5292000" cy="338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88000" y="5770800"/>
            <a:ext cx="52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grille de sécurité et seuil</a:t>
            </a:r>
          </a:p>
        </p:txBody>
      </p:sp>
      <p:pic>
        <p:nvPicPr>
          <p:cNvPr id="15" name="Picture 14" descr="WhatsApp_Image_2026_10_13_at_6_12_46_PM_23__710x7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000" y="5904000"/>
            <a:ext cx="2556000" cy="27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88000" y="8650800"/>
            <a:ext cx="25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accès arrière et marches visibles</a:t>
            </a:r>
          </a:p>
        </p:txBody>
      </p:sp>
      <p:pic>
        <p:nvPicPr>
          <p:cNvPr id="17" name="Picture 16" descr="WhatsApp_Image_2026_10_13_at_5_50_22_PM_710x7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000" y="5904000"/>
            <a:ext cx="2556000" cy="27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24000" y="8650800"/>
            <a:ext cx="25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dallage extérieur irrégulier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0000" y="7236000"/>
            <a:ext cx="2556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0000" y="734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7344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L’OMBRE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7668000"/>
            <a:ext cx="2556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L’arbre existant rafraîchit l’abord; sa position exacte reste à relever.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28000" y="7236000"/>
            <a:ext cx="2556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28000" y="734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8000" y="7344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LE SEUIL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8000" y="7668000"/>
            <a:ext cx="2556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La grille et l’entrée rectangulaire doivent rester compréhensibles.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6000" y="7236000"/>
            <a:ext cx="2592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6000" y="734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000" y="7344000"/>
            <a:ext cx="20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LA PROFONDEUR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6000" y="7668000"/>
            <a:ext cx="259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Les vues montrent un fond peu éclairé; la lumière doit traverser.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8000" y="8964000"/>
            <a:ext cx="529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Les photos sont des documents de l’existant. Elles ne donnent ni cotes fiables, ni limites foncières, ni capacité structurelle.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02 · ORGANISER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Une ligne claire, quatre séquences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Schéma d’usage non coté · plan-programme accepté, géométrie à confirmer au relevé.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8000" y="2520000"/>
            <a:ext cx="7344000" cy="6408000"/>
          </a:xfrm>
          <a:prstGeom prst="rect">
            <a:avLst/>
          </a:prstGeom>
          <a:solidFill>
            <a:srgbClr val="F5F2ED"/>
          </a:solidFill>
          <a:ln w="36000">
            <a:solidFill>
              <a:srgbClr val="292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68000" y="2808000"/>
            <a:ext cx="6624000" cy="1296000"/>
          </a:xfrm>
          <a:prstGeom prst="rect">
            <a:avLst/>
          </a:prstGeom>
          <a:solidFill>
            <a:srgbClr val="E8DED1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0000" y="3204000"/>
            <a:ext cx="57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FOND · WC EXISTANT + ÉCRAN / RÉSERVE À VÉRIFIER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4284000"/>
            <a:ext cx="2772000" cy="2088000"/>
          </a:xfrm>
          <a:prstGeom prst="rect">
            <a:avLst/>
          </a:prstGeom>
          <a:solidFill>
            <a:srgbClr val="DCE8E8"/>
          </a:solidFill>
          <a:ln w="25200">
            <a:solidFill>
              <a:srgbClr val="BD5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6000" y="47520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92826"/>
                </a:solidFill>
                <a:latin typeface="Archivo"/>
              </a:defRPr>
            </a:pPr>
            <a:r>
              <a:t>SALLE VITRÉE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6000" y="5220000"/>
            <a:ext cx="21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Réunion · six places visées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à vérifier au relevé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4000" y="4284000"/>
            <a:ext cx="3708000" cy="2880000"/>
          </a:xfrm>
          <a:prstGeom prst="rect">
            <a:avLst/>
          </a:prstGeom>
          <a:solidFill>
            <a:srgbClr val="F0EEE9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000" y="4860000"/>
            <a:ext cx="30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92826"/>
                </a:solidFill>
                <a:latin typeface="Archivo"/>
              </a:defRPr>
            </a:pPr>
            <a:r>
              <a:t>BIBLIOTHÈQUE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5364000"/>
            <a:ext cx="291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746D"/>
                </a:solidFill>
                <a:latin typeface="Archivo"/>
              </a:defRPr>
            </a:pPr>
            <a:r>
              <a:t>Rayonnages périphériques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746D"/>
                </a:solidFill>
                <a:latin typeface="Archivo"/>
              </a:defRPr>
            </a:pPr>
            <a:r>
              <a:t>lecture · coworking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8000" y="6552000"/>
            <a:ext cx="2772000" cy="1512000"/>
          </a:xfrm>
          <a:prstGeom prst="rect">
            <a:avLst/>
          </a:prstGeom>
          <a:solidFill>
            <a:srgbClr val="F2E2D9"/>
          </a:solidFill>
          <a:ln w="25200">
            <a:solidFill>
              <a:srgbClr val="BD5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0000" y="6948000"/>
            <a:ext cx="230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92826"/>
                </a:solidFill>
                <a:latin typeface="Archivo"/>
              </a:defRPr>
            </a:pPr>
            <a:r>
              <a:t>ACCUEIL + CAFÉ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7344000"/>
            <a:ext cx="230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poste unique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000" y="8136000"/>
            <a:ext cx="7344000" cy="792000"/>
          </a:xfrm>
          <a:prstGeom prst="rect">
            <a:avLst/>
          </a:prstGeom>
          <a:solidFill>
            <a:srgbClr val="E4E9DF"/>
          </a:solidFill>
          <a:ln w="18000">
            <a:solidFill>
              <a:srgbClr val="66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000" y="8388000"/>
            <a:ext cx="680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6735B"/>
                </a:solidFill>
                <a:latin typeface="Archivo"/>
              </a:defRPr>
            </a:pPr>
            <a:r>
              <a:t>TERRASSE COUVERTE  →  ARBRE / DALLAGE À CONFIRMER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772000" y="7524000"/>
            <a:ext cx="0" cy="468000"/>
          </a:xfrm>
          <a:prstGeom prst="line">
            <a:avLst/>
          </a:prstGeom>
          <a:ln w="576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72000" y="6768000"/>
            <a:ext cx="0" cy="756000"/>
          </a:xfrm>
          <a:prstGeom prst="line">
            <a:avLst/>
          </a:prstGeom>
          <a:ln w="576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772000" y="6372000"/>
            <a:ext cx="0" cy="396000"/>
          </a:xfrm>
          <a:prstGeom prst="line">
            <a:avLst/>
          </a:prstGeom>
          <a:ln w="576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40000" y="5508000"/>
            <a:ext cx="144000" cy="0"/>
          </a:xfrm>
          <a:prstGeom prst="line">
            <a:avLst/>
          </a:prstGeom>
          <a:ln w="43200">
            <a:solidFill>
              <a:srgbClr val="BD5B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0" y="2592000"/>
            <a:ext cx="52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D5B3B"/>
                </a:solidFill>
                <a:latin typeface="Archivo"/>
              </a:defRPr>
            </a:pPr>
            <a:r>
              <a:t>LE PARCOURS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024000"/>
            <a:ext cx="522000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92826"/>
                </a:solidFill>
                <a:latin typeface="Archivo"/>
              </a:defRPr>
            </a:pPr>
            <a:r>
              <a:t>Entrée et accueil au premier plan. La pièce bleue devient salle vitrée à gauche. Les livres et le travail occupent la grande salle à droite.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428000"/>
            <a:ext cx="529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D5B3B"/>
                </a:solidFill>
                <a:latin typeface="Archivo"/>
              </a:defRPr>
            </a:pPr>
            <a:r>
              <a:t>CE QUE LE PLAN GARDE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860000"/>
            <a:ext cx="522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WC au fond; circulation directe; terrasse couverte existante. L’extension extérieure reste une option tant que ses limites ne sont pas établies.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6552000"/>
            <a:ext cx="529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D5B3B"/>
                </a:solidFill>
                <a:latin typeface="Archivo"/>
              </a:defRPr>
            </a:pPr>
            <a:r>
              <a:t>À NE PAS CONFONDRE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984000"/>
            <a:ext cx="522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Ce diagramme décrit le programme, pas les murs mesurés ni une implantation d’exécution. Les surfaces V5 restent des valeurs de maquette.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03 · HABITER LE LIEU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Une journée, trois ambiances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Le projet accompagne les rythmes du quartier sans changer de langage.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05</a:t>
            </a:r>
          </a:p>
        </p:txBody>
      </p:sp>
      <p:pic>
        <p:nvPicPr>
          <p:cNvPr id="11" name="Picture 10" descr="interieur_jour_1240x1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448000"/>
            <a:ext cx="4464000" cy="36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61668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AMBIANCE IA · lire et travailler le jour</a:t>
            </a:r>
          </a:p>
        </p:txBody>
      </p:sp>
      <p:pic>
        <p:nvPicPr>
          <p:cNvPr id="13" name="Picture 12" descr="interieur_entree_1240x10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00" y="2448000"/>
            <a:ext cx="4464000" cy="36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92000" y="61668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MAQUETTE IFC V7 · géométrie de référence</a:t>
            </a:r>
          </a:p>
        </p:txBody>
      </p:sp>
      <p:pic>
        <p:nvPicPr>
          <p:cNvPr id="15" name="Picture 14" descr="interieur_soir_1260x10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000" y="2448000"/>
            <a:ext cx="4536000" cy="367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44000" y="6166800"/>
            <a:ext cx="453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AMBIANCE IA · se retrouver le soir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0000" y="6732000"/>
            <a:ext cx="4392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0000" y="684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6840000"/>
            <a:ext cx="38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MATIN · LIRE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7164000"/>
            <a:ext cx="439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Le jour entre par l’accueil et se prolonge vers les livres.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92000" y="6732000"/>
            <a:ext cx="4392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92000" y="684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6840000"/>
            <a:ext cx="38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JOUR · TRAVAILLER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2000" y="7164000"/>
            <a:ext cx="439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La salle vitrée accueille les réunions; le reste de la salle demeure traversant.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44000" y="6732000"/>
            <a:ext cx="4536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44000" y="684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4000" y="6840000"/>
            <a:ext cx="399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SOIR · SE RETROUVER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4000" y="7164000"/>
            <a:ext cx="4536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Les usages s’étendent vers la terrasse couverte et l’ombre existante.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8820000"/>
            <a:ext cx="1404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Les ambiances IA ajoutent livres, personnes, végétal et finitions; la vue IFC au centre montre la géométrie de la maquette. Les légendes distinguent ces statuts.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04 · MATIÈRE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Des matières familières, peu d’effets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Une palette construisible et réparable; échantillons à valider avec les entreprises locales.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06</a:t>
            </a:r>
          </a:p>
        </p:txBody>
      </p:sp>
      <p:pic>
        <p:nvPicPr>
          <p:cNvPr id="11" name="Picture 10" descr="matie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832000"/>
            <a:ext cx="8460000" cy="56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8938800"/>
            <a:ext cx="84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IMAGE IA D’INTENTION · matières à sourcer localement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76000" y="2592000"/>
            <a:ext cx="612000" cy="612000"/>
          </a:xfrm>
          <a:prstGeom prst="rect">
            <a:avLst/>
          </a:prstGeom>
          <a:solidFill>
            <a:srgbClr val="EDE7D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96000" y="2628000"/>
            <a:ext cx="20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Enduit clair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6000" y="2844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Réparer puis peindre, finition mate lavable.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76000" y="3780000"/>
            <a:ext cx="612000" cy="612000"/>
          </a:xfrm>
          <a:prstGeom prst="rect">
            <a:avLst/>
          </a:prstGeom>
          <a:solidFill>
            <a:srgbClr val="9A704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96000" y="3816000"/>
            <a:ext cx="20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Bois naturel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000" y="4032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Menuiserie modulaire; essence et filière à confirmer.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6000" y="4968000"/>
            <a:ext cx="612000" cy="612000"/>
          </a:xfrm>
          <a:prstGeom prst="rect">
            <a:avLst/>
          </a:prstGeom>
          <a:solidFill>
            <a:srgbClr val="BD5B3B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6000" y="5004000"/>
            <a:ext cx="20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Terre cuite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000" y="5220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Accent ponctuel; carreau ou panneau local à tester.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6000" y="6156000"/>
            <a:ext cx="612000" cy="612000"/>
          </a:xfrm>
          <a:prstGeom prst="rect">
            <a:avLst/>
          </a:prstGeom>
          <a:solidFill>
            <a:srgbClr val="292B29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000" y="6192000"/>
            <a:ext cx="20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Métal sombre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000" y="6408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Profilés vitrés et petites pièces, finition résistante.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76000" y="7344000"/>
            <a:ext cx="612000" cy="612000"/>
          </a:xfrm>
          <a:prstGeom prst="rect">
            <a:avLst/>
          </a:prstGeom>
          <a:solidFill>
            <a:srgbClr val="CBDDE0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6000" y="7380000"/>
            <a:ext cx="20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92826"/>
                </a:solidFill>
                <a:latin typeface="Archivo"/>
              </a:defRPr>
            </a:pPr>
            <a:r>
              <a:t>Verre clair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000" y="7596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Salle vitrée; type et sécurité selon fabricant.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6000" y="8856000"/>
            <a:ext cx="468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Le sol existant sera diagnostiqué avant décision de conservation ou remplacement.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05 · PLAN ARCHITECTURAL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 plan pour accueillir et lire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Plan de projet issu de l’IFC V7 · cotes et surfaces à rapprocher du relevé.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07</a:t>
            </a:r>
          </a:p>
        </p:txBody>
      </p:sp>
      <p:pic>
        <p:nvPicPr>
          <p:cNvPr id="11" name="Picture 10" descr="plan_v7_interi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24" y="2304000"/>
            <a:ext cx="6946351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957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A01 · plan IFC V7 · intérieur et seuil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2000" y="2412000"/>
            <a:ext cx="37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D5B3B"/>
                </a:solidFill>
                <a:latin typeface="Archivo"/>
              </a:defRPr>
            </a:pPr>
            <a:r>
              <a:t>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2000" y="2952000"/>
            <a:ext cx="64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2000" y="2988000"/>
            <a:ext cx="30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Accueil-café · un seul poste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2000" y="3744000"/>
            <a:ext cx="64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2000" y="3780000"/>
            <a:ext cx="30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Salle vitrée · pièce bleue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2000" y="4536000"/>
            <a:ext cx="64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12000" y="4572000"/>
            <a:ext cx="30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Bibliothèque + coworking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2000" y="5328000"/>
            <a:ext cx="64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12000" y="5364000"/>
            <a:ext cx="30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WC au fond + écran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2000" y="6120000"/>
            <a:ext cx="64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12000" y="6156000"/>
            <a:ext cx="30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Terrasse couverte conservée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2000" y="7128000"/>
            <a:ext cx="3852000" cy="0"/>
          </a:xfrm>
          <a:prstGeom prst="line">
            <a:avLst/>
          </a:prstGeom>
          <a:ln w="36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692000" y="7344000"/>
            <a:ext cx="38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LÉGENDE DE PROJET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28000" y="7812000"/>
            <a:ext cx="288000" cy="144000"/>
          </a:xfrm>
          <a:prstGeom prst="rect">
            <a:avLst/>
          </a:prstGeom>
          <a:solidFill>
            <a:srgbClr val="29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96000" y="77760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92826"/>
                </a:solidFill>
                <a:latin typeface="Archivo"/>
              </a:defRPr>
            </a:pPr>
            <a:r>
              <a:t>Existant conservé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8000" y="8172000"/>
            <a:ext cx="288000" cy="144000"/>
          </a:xfrm>
          <a:prstGeom prst="rect">
            <a:avLst/>
          </a:prstGeom>
          <a:solidFill>
            <a:srgbClr val="BD5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96000" y="81360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92826"/>
                </a:solidFill>
                <a:latin typeface="Archivo"/>
              </a:defRPr>
            </a:pPr>
            <a:r>
              <a:t>Création V7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28000" y="8532000"/>
            <a:ext cx="288000" cy="144000"/>
          </a:xfrm>
          <a:prstGeom prst="rect">
            <a:avLst/>
          </a:prstGeom>
          <a:solidFill>
            <a:srgbClr val="797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96000" y="84960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92826"/>
                </a:solidFill>
                <a:latin typeface="Archivo"/>
              </a:defRPr>
            </a:pPr>
            <a:r>
              <a:t>À vérifier / option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2000" y="9144000"/>
            <a:ext cx="38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79746D"/>
                </a:solidFill>
                <a:latin typeface="Archivo"/>
              </a:defRPr>
            </a:pPr>
            <a:r>
              <a:t>Poteau existant conservé; cloison vitrée et dégagements dessinés depuis la maquette V7.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06 · COMPRENDRE L’ENSEMBLE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 même lieu, des usages qui se lisent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Axonométrie générale issue de la maquette V7 · existant et projet différenciés.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08</a:t>
            </a:r>
          </a:p>
        </p:txBody>
      </p:sp>
      <p:pic>
        <p:nvPicPr>
          <p:cNvPr id="11" name="Picture 10" descr="axo_3900x2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14040000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VUE IFC V7 · géométrie projet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07 · COUPE D’USAGE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La lumière traverse 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Coupe d’usage au travers de la salle : table, assises et poteau conservé restent lisibles.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09</a:t>
            </a:r>
          </a:p>
        </p:txBody>
      </p:sp>
      <p:pic>
        <p:nvPicPr>
          <p:cNvPr id="11" name="Picture 10" descr="coupe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00" y="2340000"/>
            <a:ext cx="12015000" cy="64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8794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A02 · coupe d’usage IFC V7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9072000"/>
            <a:ext cx="4320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000" y="918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9180000"/>
            <a:ext cx="37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ACCUEIL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9504000"/>
            <a:ext cx="43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Un seuil dégagé, un comptoir visible et un poste dimensionné pour une personne.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92000" y="9072000"/>
            <a:ext cx="4320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92000" y="918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2000" y="9180000"/>
            <a:ext cx="37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SALLE VITRÉE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2000" y="9504000"/>
            <a:ext cx="43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La lumière circule; intimité et acoustique à définir avec le vitrage.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44000" y="9072000"/>
            <a:ext cx="4536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44000" y="918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4000" y="9180000"/>
            <a:ext cx="399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RANGEMENTS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4000" y="9504000"/>
            <a:ext cx="4536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Rayonnages linéaires contre les murs; centre libre.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08 · COUPE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Organiser l’espace en hauteur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Coupe transversale V7 · rangements et pièce de service en fond de salle.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10</a:t>
            </a:r>
          </a:p>
        </p:txBody>
      </p:sp>
      <p:pic>
        <p:nvPicPr>
          <p:cNvPr id="11" name="Picture 10" descr="coupe_transver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00" y="2340000"/>
            <a:ext cx="12015000" cy="64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8794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A03 · coupe transversale V7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9036000"/>
            <a:ext cx="14040000" cy="828000"/>
          </a:xfrm>
          <a:prstGeom prst="rect">
            <a:avLst/>
          </a:prstGeom>
          <a:solidFill>
            <a:srgbClr val="F8F6F2"/>
          </a:solidFill>
          <a:ln w="144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9216000"/>
            <a:ext cx="136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UN FOND SOBRE, UNE SALLE OUVERTE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9504000"/>
            <a:ext cx="136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Le WC existant se place derrière un écran; le rangement linéaire garde le centre libre.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09 · ACCUEILLIR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Depuis l’entrée, comprendre le lieu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Vue issue de la maquette V7 — implantation et géométrie du modèle.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11</a:t>
            </a:r>
          </a:p>
        </p:txBody>
      </p:sp>
      <p:pic>
        <p:nvPicPr>
          <p:cNvPr id="11" name="Picture 10" descr="interieur_entree_3900x2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14040000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VUE DE MAQUETTE IFC V7 · non générée par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10 · ACCUEIL-CAFÉ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 comptoir, deux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Le point d’accueil oriente et sert le café en gardant le passage libre.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12</a:t>
            </a:r>
          </a:p>
        </p:txBody>
      </p:sp>
      <p:pic>
        <p:nvPicPr>
          <p:cNvPr id="11" name="Picture 10" descr="plan_accueil_detail_2500x2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9000000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90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EXTRAIT DU PLAN IFC V7 · accueil-café et passage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16000" y="2448000"/>
            <a:ext cx="4464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16000" y="2556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6000" y="2556000"/>
            <a:ext cx="39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COMPTOIR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6000" y="2880000"/>
            <a:ext cx="446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0,65 × 1,50 m; plan de travail à 0,84 m de principe. Posture assise à tester.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16000" y="4212000"/>
            <a:ext cx="4464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16000" y="4320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6000" y="4320000"/>
            <a:ext cx="39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CAFÉ LÉGER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6000" y="4644000"/>
            <a:ext cx="446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Machine et petit froid en option; eau, évacuation et puissance à coordonner.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16000" y="5976000"/>
            <a:ext cx="4464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16000" y="608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6000" y="6084000"/>
            <a:ext cx="39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DÉGAGEMENTS MODÈLE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6000" y="6408000"/>
            <a:ext cx="446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0,91 m côté public; 0,76 m côté service. Largeurs théoriques à valider avec assise et équipement.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16000" y="8064000"/>
            <a:ext cx="4464000" cy="1152000"/>
          </a:xfrm>
          <a:prstGeom prst="rect">
            <a:avLst/>
          </a:prstGeom>
          <a:solidFill>
            <a:srgbClr val="F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8000" y="82800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DÉTAIL DE FABRICATION À VENIR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8000" y="8604000"/>
            <a:ext cx="39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92826"/>
                </a:solidFill>
                <a:latin typeface="Archivo"/>
              </a:defRPr>
            </a:pPr>
            <a:r>
              <a:t>Panneaux et plateaux courants, chants protégés, assemblages réparables.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11 · SE RÉUNIR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Se réunir en gardant la lumière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Une enveloppe vitrée simple distingue la salle et préserve la profondeur.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13</a:t>
            </a:r>
          </a:p>
        </p:txBody>
      </p:sp>
      <p:pic>
        <p:nvPicPr>
          <p:cNvPr id="11" name="Picture 10" descr="interieur_soir_2600x17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9360000" cy="63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8722800"/>
            <a:ext cx="93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VUE D’AMBIANCE IA · se réunir le soir, non contractuelle</a:t>
            </a:r>
          </a:p>
        </p:txBody>
      </p:sp>
      <p:pic>
        <p:nvPicPr>
          <p:cNvPr id="13" name="Picture 12" descr="WhatsApp_Image_2026_10_13_at_6_12_46_PM_18__1190x8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000" y="2304000"/>
            <a:ext cx="4284000" cy="29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96000" y="5302800"/>
            <a:ext cx="428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EXISTANT PHOTOGRAPHIÉ · pièce bleue</a:t>
            </a:r>
          </a:p>
        </p:txBody>
      </p:sp>
      <p:pic>
        <p:nvPicPr>
          <p:cNvPr id="15" name="Picture 14" descr="coupe_transvers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000" y="5949599"/>
            <a:ext cx="4284000" cy="228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96000" y="8722800"/>
            <a:ext cx="428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DÉTAIL IFC V7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8928000"/>
            <a:ext cx="1404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Vitrage à trame régulière, porte visible et bande de signalisation. Six places sont un objectif de programme : elles ne seront annoncées comme capacité qu’après vérification des cotes et des dégagements.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12 · LIRE ET TRAVAILLER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Des murs qui rangent, un centre qui respire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Rayonnages droits contre les parois; au centre, lecture et travail partagés.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14</a:t>
            </a:r>
          </a:p>
        </p:txBody>
      </p:sp>
      <p:pic>
        <p:nvPicPr>
          <p:cNvPr id="11" name="Picture 10" descr="elevation_rang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9" y="2304000"/>
            <a:ext cx="8985600" cy="561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7966800"/>
            <a:ext cx="90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A04 · élévation des rayonnages V7</a:t>
            </a:r>
          </a:p>
        </p:txBody>
      </p:sp>
      <p:pic>
        <p:nvPicPr>
          <p:cNvPr id="13" name="Picture 12" descr="interieur_accueil_1290x15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000" y="2304000"/>
            <a:ext cx="4644000" cy="56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6000" y="7966800"/>
            <a:ext cx="464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VUE IFC V7 · bibliothèque et mobilier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0000" y="8388000"/>
            <a:ext cx="4464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0000" y="8496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8496000"/>
            <a:ext cx="39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LINÉAIRE UTILE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8820000"/>
            <a:ext cx="446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≈ 6,69 m équipés au nord, à l’est et à l’ouest dans la maquette; longueur à vérifier sur site.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92000" y="8388000"/>
            <a:ext cx="4464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92000" y="8496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2000" y="8496000"/>
            <a:ext cx="39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CENTRE DÉGAGÉ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2000" y="8820000"/>
            <a:ext cx="446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Une table commune et quelques postes indépendants, sans obstacle central.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44000" y="8388000"/>
            <a:ext cx="4536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44000" y="8496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4000" y="8496000"/>
            <a:ext cx="399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CONFORT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4000" y="8820000"/>
            <a:ext cx="4536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Passages, accès aux prises et stabilité à contrôler au plan coté.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13 · PROLONGER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L’ombre prolonge la bibliothèque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La terrasse couverte étend les usages vers l’arbre et le jardin.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15</a:t>
            </a:r>
          </a:p>
        </p:txBody>
      </p:sp>
      <p:pic>
        <p:nvPicPr>
          <p:cNvPr id="11" name="Picture 10" descr="terrasse_2500x17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9000000" cy="63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8722800"/>
            <a:ext cx="90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VUE DE MAQUETTE IFC V7 · terrasse couverte</a:t>
            </a:r>
          </a:p>
        </p:txBody>
      </p:sp>
      <p:pic>
        <p:nvPicPr>
          <p:cNvPr id="13" name="Picture 12" descr="WhatsApp_Image_2026_10_13_at_5_50_23_PM_5__1290x8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000" y="2304000"/>
            <a:ext cx="4644000" cy="298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6000" y="5338800"/>
            <a:ext cx="464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arbre et abord</a:t>
            </a:r>
          </a:p>
        </p:txBody>
      </p:sp>
      <p:pic>
        <p:nvPicPr>
          <p:cNvPr id="15" name="Picture 14" descr="WhatsApp_Image_2026_10_13_at_5_50_22_PM_1290x8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000" y="5580000"/>
            <a:ext cx="4644000" cy="309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36000" y="8722800"/>
            <a:ext cx="464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 · seuil et dallage à relever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9036000"/>
            <a:ext cx="14040000" cy="79200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9216000"/>
            <a:ext cx="1360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CONSERVER LE LIEN AU JARDIN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9504000"/>
            <a:ext cx="136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Assises et végétation légère prolongent l’ombre, en préservant l’accès et le passage.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14 · RYTHMES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À la tombée du jour, le café prend le relais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Ambiances conceptuelles IA présentées à côté de vues exactes de la maquette.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16</a:t>
            </a:r>
          </a:p>
        </p:txBody>
      </p:sp>
      <p:pic>
        <p:nvPicPr>
          <p:cNvPr id="11" name="Picture 10" descr="interieur_jour_1900x1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6840000" cy="442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67788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AMBIANCE IA · jour · illustration non contractuelle</a:t>
            </a:r>
          </a:p>
        </p:txBody>
      </p:sp>
      <p:pic>
        <p:nvPicPr>
          <p:cNvPr id="13" name="Picture 12" descr="interieur_soir_1900x12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000" y="2304000"/>
            <a:ext cx="6840000" cy="442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0000" y="67788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AMBIANCE IA · soir · illustration non contractuelle</a:t>
            </a:r>
          </a:p>
        </p:txBody>
      </p:sp>
      <p:pic>
        <p:nvPicPr>
          <p:cNvPr id="15" name="Picture 14" descr="interieur_entree_1900x7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6984000"/>
            <a:ext cx="6840000" cy="259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0000" y="96228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IFC V7 · source géométrique, rendu de maquette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0" y="7056000"/>
            <a:ext cx="68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D5B3B"/>
                </a:solidFill>
                <a:latin typeface="Archivo"/>
              </a:defRPr>
            </a:pPr>
            <a:r>
              <a:t>RÈGLE DE FIDÉLITÉ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000" y="7524000"/>
            <a:ext cx="6840000" cy="16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92826"/>
                </a:solidFill>
                <a:latin typeface="Archivo"/>
              </a:defRPr>
            </a:pPr>
            <a:r>
              <a:t>L’image IA propose une atmosphère; la vue IFC contrôle les murs, portes, vitrages, meubles et proportions. Les deux portent une légende distincte. Aucun détail de construction ne se déduit d’un rendu d’ambiance.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15 · DÉTAILS ET MATIÈRE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Faire simple pour construire juste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Assemblages courants; choix finaux après échantillons et consultation des artisans.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17</a:t>
            </a:r>
          </a:p>
        </p:txBody>
      </p:sp>
      <p:pic>
        <p:nvPicPr>
          <p:cNvPr id="11" name="Picture 10" descr="matieres_1850x1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6660000" cy="52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7570800"/>
            <a:ext cx="66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IMAGE IA D’INTENTION MATIÈRES · non contractuelle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0000" y="2484000"/>
            <a:ext cx="3168000" cy="0"/>
          </a:xfrm>
          <a:prstGeom prst="line">
            <a:avLst/>
          </a:prstGeom>
          <a:ln w="54000">
            <a:solidFill>
              <a:srgbClr val="9A7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40000" y="2592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A704D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000" y="2592000"/>
            <a:ext cx="262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MENUISERIE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0000" y="2916000"/>
            <a:ext cx="316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Panneaux adaptés à l’humidité, chants protégés, tablettes réglables.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60000" y="2484000"/>
            <a:ext cx="3168000" cy="0"/>
          </a:xfrm>
          <a:prstGeom prst="line">
            <a:avLst/>
          </a:prstGeom>
          <a:ln w="54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160000" y="2592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0000" y="2592000"/>
            <a:ext cx="262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VITRAGE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0000" y="2916000"/>
            <a:ext cx="316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Profilés métalliques courants, verre de sécurité et quincaillerie disponible.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40000" y="5076000"/>
            <a:ext cx="3168000" cy="0"/>
          </a:xfrm>
          <a:prstGeom prst="line">
            <a:avLst/>
          </a:prstGeom>
          <a:ln w="540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40000" y="518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735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0" y="5184000"/>
            <a:ext cx="262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PEINTURE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0000" y="5508000"/>
            <a:ext cx="316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Support réparé, peinture lavable mate; test préalable des murs.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60000" y="5076000"/>
            <a:ext cx="3168000" cy="0"/>
          </a:xfrm>
          <a:prstGeom prst="line">
            <a:avLst/>
          </a:prstGeom>
          <a:ln w="54000">
            <a:solidFill>
              <a:srgbClr val="272B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160000" y="5184000"/>
            <a:ext cx="4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72B29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0000" y="5184000"/>
            <a:ext cx="262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92826"/>
                </a:solidFill>
                <a:latin typeface="Archivo"/>
              </a:defRPr>
            </a:pPr>
            <a:r>
              <a:t>SOL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0000" y="5508000"/>
            <a:ext cx="3168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Diagnostic et essais de nettoyage/réparation avant remplacement.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0000" y="7920000"/>
            <a:ext cx="6840000" cy="11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79746D"/>
                </a:solidFill>
                <a:latin typeface="Archivo"/>
              </a:defRPr>
            </a:pPr>
            <a:r>
              <a:t>À faire valider : disponibilité locale, essence et provenance du bois, tenue en climat humide, entretien, prix et délais. Palette indicative, non contractuelle.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16 · RÉALISER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 projet lisible, un chantier par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D’abord sécuriser l’existant; ensuite installer les usages et les finitions.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168000"/>
            <a:ext cx="2448000" cy="4032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456000"/>
            <a:ext cx="19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41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RELEVER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4680000"/>
            <a:ext cx="1980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Plan, niveaux, portes, réseaux et limites extérieures.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88000" y="5184000"/>
            <a:ext cx="324000" cy="0"/>
          </a:xfrm>
          <a:prstGeom prst="line">
            <a:avLst/>
          </a:prstGeom>
          <a:ln w="36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48000" y="3168000"/>
            <a:ext cx="2448000" cy="4032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0" y="3456000"/>
            <a:ext cx="19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41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VALIDER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4680000"/>
            <a:ext cx="1980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Cloison vitrée, assise d’accueil, WC, charges et cheminements.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96000" y="5184000"/>
            <a:ext cx="324000" cy="0"/>
          </a:xfrm>
          <a:prstGeom prst="line">
            <a:avLst/>
          </a:prstGeom>
          <a:ln w="36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56000" y="3168000"/>
            <a:ext cx="2448000" cy="4032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000" y="3456000"/>
            <a:ext cx="19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1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COORDONNER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8000" y="4680000"/>
            <a:ext cx="1980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Électricité, éclairage, plomberie, ventilation et supports.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04000" y="5184000"/>
            <a:ext cx="324000" cy="0"/>
          </a:xfrm>
          <a:prstGeom prst="line">
            <a:avLst/>
          </a:prstGeom>
          <a:ln w="36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964000" y="3168000"/>
            <a:ext cx="2448000" cy="4032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6000" y="3456000"/>
            <a:ext cx="19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6000" y="41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FABRIQUER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6000" y="4680000"/>
            <a:ext cx="1980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Menuiseries modulaires, vitrage, mobilier et finitions échantillonnés.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12000" y="5184000"/>
            <a:ext cx="324000" cy="0"/>
          </a:xfrm>
          <a:prstGeom prst="line">
            <a:avLst/>
          </a:prstGeom>
          <a:ln w="36000">
            <a:solidFill>
              <a:srgbClr val="BD5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1772000" y="3168000"/>
            <a:ext cx="2448000" cy="4032000"/>
          </a:xfrm>
          <a:prstGeom prst="rect">
            <a:avLst/>
          </a:prstGeom>
          <a:solidFill>
            <a:srgbClr val="FFFFFF"/>
          </a:solidFill>
          <a:ln w="180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24000" y="3456000"/>
            <a:ext cx="19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D5B3B"/>
                </a:solidFill>
                <a:latin typeface="Archivo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24000" y="41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INSTALLER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24000" y="4680000"/>
            <a:ext cx="1980000" cy="17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Pose par lots; contrôle des passages, accès et maintenance.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7992000"/>
            <a:ext cx="14040000" cy="1548000"/>
          </a:xfrm>
          <a:prstGeom prst="rect">
            <a:avLst/>
          </a:prstGeom>
          <a:solidFill>
            <a:srgbClr val="F8F6F2"/>
          </a:solidFill>
          <a:ln w="144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" y="8280000"/>
            <a:ext cx="30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FABRICATION LOCALE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00" y="8640000"/>
            <a:ext cx="13212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Comptoirs, rayonnages et tables en éléments répétitifs; profils de vitrage et pièces métalliques standards. Les détails de fixation et les dimensions sont arrêtés après relevé et consultation des entreprises.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17 · COORDINATION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Vérifier les points clés avant le chantier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Décisions à coordonner avant lancement des plans d’exécution.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448000"/>
            <a:ext cx="3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480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EAU / CAFÉ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000" y="244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Position du point d’eau, évacuation gravitaire et équipements du comptoir.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16000" y="2448000"/>
            <a:ext cx="3564000" cy="648000"/>
          </a:xfrm>
          <a:prstGeom prst="rect">
            <a:avLst/>
          </a:prstGeom>
          <a:solidFill>
            <a:srgbClr val="F5F2E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96000" y="2628000"/>
            <a:ext cx="316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9746D"/>
                </a:solidFill>
                <a:latin typeface="Archivo"/>
              </a:defRPr>
            </a:pPr>
            <a:r>
              <a:t>À COORDONNER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708000"/>
            <a:ext cx="3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37080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ÉLECTRICITÉ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00" y="370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Puissances café, prises, circuits et état du tableau existant.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16000" y="3708000"/>
            <a:ext cx="3564000" cy="648000"/>
          </a:xfrm>
          <a:prstGeom prst="rect">
            <a:avLst/>
          </a:prstGeom>
          <a:solidFill>
            <a:srgbClr val="F5F2E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6000" y="3888000"/>
            <a:ext cx="316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9746D"/>
                </a:solidFill>
                <a:latin typeface="Archivo"/>
              </a:defRPr>
            </a:pPr>
            <a:r>
              <a:t>À COORDONNER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4968000"/>
            <a:ext cx="3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000" y="49680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AIR / LUMIÈRE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96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Éclairage général et de lecture; ventilation et climatisation après cloisonnement.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16000" y="4968000"/>
            <a:ext cx="3564000" cy="648000"/>
          </a:xfrm>
          <a:prstGeom prst="rect">
            <a:avLst/>
          </a:prstGeom>
          <a:solidFill>
            <a:srgbClr val="F5F2E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96000" y="5148000"/>
            <a:ext cx="316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9746D"/>
                </a:solidFill>
                <a:latin typeface="Archivo"/>
              </a:defRPr>
            </a:pPr>
            <a:r>
              <a:t>À COORDONNER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228000"/>
            <a:ext cx="3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000" y="62280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WC / RÉSERVE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000" y="622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Appareils, ventilation, porte, écran et structure du volume haut.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16000" y="6228000"/>
            <a:ext cx="3564000" cy="648000"/>
          </a:xfrm>
          <a:prstGeom prst="rect">
            <a:avLst/>
          </a:prstGeom>
          <a:solidFill>
            <a:srgbClr val="F5F2E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96000" y="6408000"/>
            <a:ext cx="316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9746D"/>
                </a:solidFill>
                <a:latin typeface="Archivo"/>
              </a:defRPr>
            </a:pPr>
            <a:r>
              <a:t>À COORDONNER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7488000"/>
            <a:ext cx="3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3B"/>
                </a:solidFill>
                <a:latin typeface="Archivo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000" y="74880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92826"/>
                </a:solidFill>
                <a:latin typeface="Archivo"/>
              </a:defRPr>
            </a:pPr>
            <a:r>
              <a:t>EXTÉRIEUR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8000" y="748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292826"/>
                </a:solidFill>
                <a:latin typeface="Archivo"/>
              </a:defRPr>
            </a:pPr>
            <a:r>
              <a:t>Seuils, pentes, propriété, garde-corps et eaux pluviales.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16000" y="7488000"/>
            <a:ext cx="3564000" cy="648000"/>
          </a:xfrm>
          <a:prstGeom prst="rect">
            <a:avLst/>
          </a:prstGeom>
          <a:solidFill>
            <a:srgbClr val="F5F2ED"/>
          </a:solidFill>
          <a:ln w="12600"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96000" y="7668000"/>
            <a:ext cx="316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9746D"/>
                </a:solidFill>
                <a:latin typeface="Archivo"/>
              </a:defRPr>
            </a:pPr>
            <a:r>
              <a:t>À COORDONNER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9144000"/>
            <a:ext cx="140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9746D"/>
                </a:solidFill>
                <a:latin typeface="Archivo"/>
              </a:defRPr>
            </a:pPr>
            <a:r>
              <a:t>Aucune validation de structure, d’accessibilité réglementaire ou de chantier n’est revendiquée par ce dossier de conception.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18 · PLAN D’ENSEMBLE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Du plan intérieur au jardin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Plan général de l’IFC V7 · les locaux et la terrasse couverte dans une même lecture.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20</a:t>
            </a:r>
          </a:p>
        </p:txBody>
      </p:sp>
      <p:pic>
        <p:nvPicPr>
          <p:cNvPr id="11" name="Picture 10" descr="plan_ame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85" y="2304000"/>
            <a:ext cx="4846829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PLAN GÉNÉRAL IFC V7 · bâtiment, seuil et terrasse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19 · COUPE LONGITUDINALE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La bibliothèque dans toute sa profondeur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Coupe longitudinale IFC V7 · hauteur et niveaux à rapprocher du relevé.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21</a:t>
            </a:r>
          </a:p>
        </p:txBody>
      </p:sp>
      <p:pic>
        <p:nvPicPr>
          <p:cNvPr id="11" name="Picture 10" descr="coupe_longitudin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50" y="2304000"/>
            <a:ext cx="13972500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14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COUPE LONGITUDINALE IFC V7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46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2826"/>
                </a:solidFill>
                <a:latin typeface="Archivo"/>
              </a:defRPr>
            </a:pPr>
            <a:r>
              <a:t>K&amp;DÉMI   /   BIBLIOTHÈQUE NANDJUI D. 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D5B3B"/>
                </a:solidFill>
                <a:latin typeface="Archivo"/>
              </a:defRPr>
            </a:pPr>
            <a:r>
              <a:t>20 · LA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1386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92826"/>
                </a:solidFill>
                <a:latin typeface="Archivo"/>
              </a:defRPr>
            </a:pPr>
            <a:r>
              <a:t>Une adresse pour lire, apprendre et se retrouver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3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9746D"/>
                </a:solidFill>
                <a:latin typeface="Archivo"/>
              </a:defRPr>
            </a:pPr>
            <a:r>
              <a:t>Une proposition ancrée dans le site, dessinée pour être construite par étapes.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2052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0000" y="10224000"/>
            <a:ext cx="14040000" cy="0"/>
          </a:xfrm>
          <a:prstGeom prst="line">
            <a:avLst/>
          </a:prstGeom>
          <a:ln w="126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10332000"/>
            <a:ext cx="12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9746D"/>
                </a:solidFill>
                <a:latin typeface="Archivo"/>
              </a:defRPr>
            </a:pPr>
            <a:r>
              <a:t>PROPOSITION V7  ·  DOSSIER DE CONCOURS  ·  ÉTUDE DE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4000" y="10332000"/>
            <a:ext cx="7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D5B3B"/>
                </a:solidFill>
                <a:latin typeface="Archivo"/>
              </a:defRPr>
            </a:pPr>
            <a:r>
              <a:t>22</a:t>
            </a:r>
          </a:p>
        </p:txBody>
      </p:sp>
      <p:pic>
        <p:nvPicPr>
          <p:cNvPr id="11" name="Picture 10" descr="seuil_projet_2350x2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04000"/>
            <a:ext cx="8460000" cy="74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9802800"/>
            <a:ext cx="84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79746D"/>
                </a:solidFill>
                <a:latin typeface="Archivo"/>
              </a:defRPr>
            </a:pPr>
            <a:r>
              <a:t>PHOTOMONTAGE IA · intention sur photo du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00" y="2520000"/>
            <a:ext cx="482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CE QUE LE PROJET PROPOSE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0" y="3024000"/>
            <a:ext cx="4752000" cy="13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826"/>
                </a:solidFill>
                <a:latin typeface="Archivo"/>
              </a:defRPr>
            </a:pPr>
            <a:r>
              <a:t>Un seuil accueillant.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826"/>
                </a:solidFill>
                <a:latin typeface="Archivo"/>
              </a:defRPr>
            </a:pPr>
            <a:r>
              <a:t>Une salle claire.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826"/>
                </a:solidFill>
                <a:latin typeface="Archivo"/>
              </a:defRPr>
            </a:pPr>
            <a:r>
              <a:t>Des livres tout autour.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826"/>
                </a:solidFill>
                <a:latin typeface="Archivo"/>
              </a:defRPr>
            </a:pPr>
            <a:r>
              <a:t>Une terrasse à l’ombre.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84000" y="5184000"/>
            <a:ext cx="4896000" cy="0"/>
          </a:xfrm>
          <a:prstGeom prst="line">
            <a:avLst/>
          </a:prstGeom>
          <a:ln w="18000">
            <a:solidFill>
              <a:srgbClr val="D8D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84000" y="5508000"/>
            <a:ext cx="48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DOCUMENTS DE PROJET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0" y="5940000"/>
            <a:ext cx="475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Plan, coupes, élévations et vues issus de l’IFC V7; matériaux et assemblages illustrés; PDF et présentation modifiable.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4000" y="7272000"/>
            <a:ext cx="48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D5B3B"/>
                </a:solidFill>
                <a:latin typeface="Archivo"/>
              </a:defRPr>
            </a:pPr>
            <a:r>
              <a:t>POINTS À CONFIRMER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4000" y="7704000"/>
            <a:ext cx="4752000" cy="13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92826"/>
                </a:solidFill>
                <a:latin typeface="Archivo"/>
              </a:defRPr>
            </a:pPr>
            <a:r>
              <a:t>Relevé coté · raccordement photo/plan · volume haut · WC et réseaux · limites de terrasse · consultation des entreprises.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4000" y="9504000"/>
            <a:ext cx="47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79746D"/>
                </a:solidFill>
                <a:latin typeface="Archivo"/>
              </a:defRPr>
            </a:pPr>
            <a:r>
              <a:t>CONCEPTION ET MISE EN PAGE ASSISTÉES PAR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Bibliothèque Nandjui D. Simon — Une bibliothèque habitée</dc:title>
  <dc:subject>Dossier de concours architectural V7 · Deux Plateaux, Abidjan</dc:subject>
  <dc:creator>K&amp;Démi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