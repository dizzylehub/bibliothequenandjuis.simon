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a512f84f-fae7-2193-bb49-1d438f520102}">
          <p14:sldIdLst>
            <p14:sldId id="256"/>
            <p14:sldId id="257"/>
            <p14:sldId id="258"/>
            <p14:sldId id="259"/>
            <p14:sldId id="260"/>
          </p14:sldIdLst>
        </p14:section>
        <p14:section name="Aménagement" id="{ea3b4ac1-fa44-6854-4334-2ab3864c63b8}">
          <p14:sldIdLst>
            <p14:sldId id="261"/>
            <p14:sldId id="262"/>
            <p14:sldId id="263"/>
            <p14:sldId id="264"/>
            <p14:sldId id="265"/>
          </p14:sldIdLst>
        </p14:section>
        <p14:section name="Mobilier" id="{35040daa-7a5d-6951-5f8c-26d23f597d51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echnique" id="{00866e21-64ca-bdf1-8cf0-b264ef8b0427}">
          <p14:sldIdLst>
            <p14:sldId id="275"/>
            <p14:sldId id="276"/>
          </p14:sldIdLst>
        </p14:section>
        <p14:section name="Suite" id="{1a8f5866-a337-60e4-0869-15e79a899821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ibliothequeNandjuiS.Simon/v8/dossier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896" y="10030968"/>
            <a:ext cx="1691640" cy="4116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085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Café-bibliothèque Nandjui · Abidjan · Esquisse V8 indice B · 16 octobre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Koffi &amp; Diabaté Architec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926080" cy="712013"/>
          </a:xfrm>
          <a:prstGeom prst="rect">
            <a:avLst/>
          </a:prstGeom>
        </p:spPr>
      </p:pic>
      <p:pic>
        <p:nvPicPr>
          <p:cNvPr id="3" name="image P1" descr="Perspective depuis l’entré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499360"/>
            <a:ext cx="8814816" cy="514197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38404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Café-bibliothèque Nandjui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5440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Esquisse d’aménagement intérieur et de terrasse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Dossier de présentation à Madame Nandjui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94091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Abidjan · 16 octobre 2026 · V8 indice B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97749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Document d’esquisse : cotes à confirmer par un relevé, études techniques de principe.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cocon mid-century, ouvert sur une terrasse du soir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PROJET EN BREF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Madame Nandjui ouvre sa bibliothèque personnelle au quartier.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vient y lire, y travailler et y prendre un café. Le soir, la terrasse couverte accueille la musique et la famille, sous une lumière tamisée.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seul volume ouvert : l’accueil-café à gauche, la bibliothèque à droite, sans cloison.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salle de réunion vitrée à louer, 9 places, avec son propre WC.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mur de la collection, une bibliothèque « Kente » du sol au plafond.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palette mid-century : noyer, velours cognac et olive, laiton, crème.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Dehors, des assises basses sous une pergola, dont les chaises d’Issa Diabaté.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49,6 m²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intérieur (profondeur estimée)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 50 m²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terrasse proposée, 42 m² sous pergola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places en salle de réunion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places de travail (table, poteau) + abattants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fauteuils de lecture au salon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WC : un pour la salle louée, un public</a:t>
            </a:r>
            <a:endParaRPr lang="en-US" sz="1300" dirty="0"/>
          </a:p>
        </p:txBody>
      </p:sp>
      <p:pic>
        <p:nvPicPr>
          <p:cNvPr id="18" name="image P3" descr="La terrasse sous perg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25880"/>
            <a:ext cx="6894576" cy="402183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680960" y="5457444"/>
            <a:ext cx="6894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terrasse-salon depuis le portillon. Perspective calculée depuis la maquette IFC.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lieu aujourd’hui</a:t>
            </a:r>
            <a:endParaRPr lang="en-US" sz="2600" dirty="0"/>
          </a:p>
        </p:txBody>
      </p:sp>
      <p:pic>
        <p:nvPicPr>
          <p:cNvPr id="3" name="image photo_facade" descr="La façade, le muret à grille et le parvis dallé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383280" cy="25374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façade, le muret à grille et le parvis dallé.</a:t>
            </a:r>
            <a:endParaRPr lang="en-US" sz="1100" dirty="0"/>
          </a:p>
        </p:txBody>
      </p:sp>
      <p:pic>
        <p:nvPicPr>
          <p:cNvPr id="5" name="image photo_salle" descr="La grande salle : profonde, une seule baie haute au fon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383280" cy="25374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grande salle : profonde, une seule baie haute au fond.</a:t>
            </a:r>
            <a:endParaRPr lang="en-US" sz="1100" dirty="0"/>
          </a:p>
        </p:txBody>
      </p:sp>
      <p:pic>
        <p:nvPicPr>
          <p:cNvPr id="7" name="image photo_bleue" descr="La pièce bleue, future salle de réunion, et son volume haut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3383280" cy="25374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68096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pièce bleue, future salle de réunion, et son volume haut.</a:t>
            </a:r>
            <a:endParaRPr lang="en-US" sz="1100" dirty="0"/>
          </a:p>
        </p:txBody>
      </p:sp>
      <p:pic>
        <p:nvPicPr>
          <p:cNvPr id="9" name="image photo_arbre" descr="Au-delà du muret : dallage, pelouse et grand arbre.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1371600"/>
            <a:ext cx="3383280" cy="253746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24712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Au-delà du muret : dallage, pelouse et grand arbre.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548640" y="4937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 QUE L’ÉQUIPE RETIENT</a:t>
            </a:r>
            <a:endParaRPr lang="en-US" sz="1100" dirty="0"/>
          </a:p>
        </p:txBody>
      </p:sp>
      <p:sp>
        <p:nvSpPr>
          <p:cNvPr id="12" name="Text 6"/>
          <p:cNvSpPr txBox="1"/>
          <p:nvPr/>
        </p:nvSpPr>
        <p:spPr>
          <a:xfrm>
            <a:off x="548640" y="534924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rez-de-chaussée d’immeuble habité : les logements au-dessus imposent une musique douce le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ancien local de restauration, aux réseaux vétustes (fils nus, appareillage en applique) : tout est refait.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Deux bandes parallèles : 3,00 m à gauche, 3,60 m à droite, séparées par un mur et marquées par un poteau de 90 × 90 cm.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parvis de 2,75 m clos par un muret ; au-delà, un espace qui semble commun à la résidence.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950976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 QUI RESTE À CONFIRMER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9509760" y="5349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profondeur totale (estimée à 7,60 m).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caractère porteur du mur à démolir.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statut de l’espace devant le muret.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hauteur sous plafond et les réseaux existants.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relevé et les cotes retenues</a:t>
            </a:r>
            <a:endParaRPr lang="en-US" sz="2600" dirty="0"/>
          </a:p>
        </p:txBody>
      </p:sp>
      <p:pic>
        <p:nvPicPr>
          <p:cNvPr id="3" name="image releve" descr="Croquis de relevé du 14 octo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206240" cy="60849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4748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Croquis de relevé du 14 octobre, tourné façade en bas.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37160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743200"/>
                <a:gridCol w="20116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ELEMENT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B6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VALEUR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B6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STATUT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B64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Bande gauche (accueil, réunion, WC)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3,00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Grande salle (bibliothèque)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3,60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Mur de séparation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0,15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0504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Estimé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Largeur intérieure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6,75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0504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Calculé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Façade → face avant du poteau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3,30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Poteau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0,90 × 0,90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Fond → bloc WC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2,40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Profondeur totale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7,60 m (7,20 à 8,00)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0504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Estimé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Parvis existant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2,75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Mesuré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Mesure prise sur la terrasse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C12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5,50 m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0504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À rattacher</a:t>
                      </a:r>
                      <a:endParaRPr lang="en-US" sz="13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303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COMMENT LA PROFONDEUR A ÉTÉ ESTIMÉE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303520" y="6903720"/>
            <a:ext cx="9235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Sur le croquis, le poteau à 3,30 m tombe à 46 % de la profondeur dessinée (≈ 7,2 m) et le bloc WC de 2,40 m en occupe 30 % (≈ 8,0 m). L’ancienne maquette V7 retenait 7,68 m. Les photos confirment une salle longue sans donner de cote fiable. L’esquisse retient 7,60 m, à mesurer au laser avant les plans d’exécution.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parti : le salon de Madame, un cocon mid-century</a:t>
            </a:r>
            <a:endParaRPr lang="en-US" sz="2600" dirty="0"/>
          </a:p>
        </p:txBody>
      </p:sp>
      <p:pic>
        <p:nvPicPr>
          <p:cNvPr id="3" name="image A1" descr="Croquis A1, le cocon mid-centu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8961120" cy="5760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15060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Croquis A1 de Dizzy : entrer dans le cocon.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96696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GESTE FONDATEUR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996696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« Et si l’on entrait dans la bibliothèque de Madame Nandjui comme on entre chez elle ? »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338328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intérieur années 50-70 : bois chaud, velours, laiton, lumière basse.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Tout est refait ; la peinture bleue disparaît.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mur entre la pièce bleue et la grande salle tombe : la salle de réunion se ferme en baies vitrées.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terrasse prolonge le salon : assises basses sous une pergola, pas de grande table.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7680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PALETTE</a:t>
            </a:r>
            <a:endParaRPr lang="en-US" sz="1100" dirty="0"/>
          </a:p>
        </p:txBody>
      </p:sp>
      <p:sp>
        <p:nvSpPr>
          <p:cNvPr id="9" name="teinte Noyer"/>
          <p:cNvSpPr/>
          <p:nvPr/>
        </p:nvSpPr>
        <p:spPr>
          <a:xfrm>
            <a:off x="548640" y="8138160"/>
            <a:ext cx="685800" cy="685800"/>
          </a:xfrm>
          <a:prstGeom prst="ellipse">
            <a:avLst/>
          </a:prstGeom>
          <a:solidFill>
            <a:srgbClr val="7A4A2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716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Noyer</a:t>
            </a:r>
            <a:endParaRPr lang="en-US" sz="1200" dirty="0"/>
          </a:p>
        </p:txBody>
      </p:sp>
      <p:sp>
        <p:nvSpPr>
          <p:cNvPr id="11" name="teinte Velours cognac"/>
          <p:cNvSpPr/>
          <p:nvPr/>
        </p:nvSpPr>
        <p:spPr>
          <a:xfrm>
            <a:off x="2880360" y="8138160"/>
            <a:ext cx="685800" cy="685800"/>
          </a:xfrm>
          <a:prstGeom prst="ellipse">
            <a:avLst/>
          </a:prstGeom>
          <a:solidFill>
            <a:srgbClr val="A85F2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0332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Velours cognac</a:t>
            </a:r>
            <a:endParaRPr lang="en-US" sz="1200" dirty="0"/>
          </a:p>
        </p:txBody>
      </p:sp>
      <p:sp>
        <p:nvSpPr>
          <p:cNvPr id="13" name="teinte Velours olive"/>
          <p:cNvSpPr/>
          <p:nvPr/>
        </p:nvSpPr>
        <p:spPr>
          <a:xfrm>
            <a:off x="5212080" y="8138160"/>
            <a:ext cx="685800" cy="685800"/>
          </a:xfrm>
          <a:prstGeom prst="ellipse">
            <a:avLst/>
          </a:prstGeom>
          <a:solidFill>
            <a:srgbClr val="56613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Velours olive</a:t>
            </a:r>
            <a:endParaRPr lang="en-US" sz="1200" dirty="0"/>
          </a:p>
        </p:txBody>
      </p:sp>
      <p:sp>
        <p:nvSpPr>
          <p:cNvPr id="15" name="teinte Moutarde"/>
          <p:cNvSpPr/>
          <p:nvPr/>
        </p:nvSpPr>
        <p:spPr>
          <a:xfrm>
            <a:off x="7543800" y="8138160"/>
            <a:ext cx="685800" cy="685800"/>
          </a:xfrm>
          <a:prstGeom prst="ellipse">
            <a:avLst/>
          </a:prstGeom>
          <a:solidFill>
            <a:srgbClr val="C9962E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6676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Moutarde</a:t>
            </a:r>
            <a:endParaRPr lang="en-US" sz="1200" dirty="0"/>
          </a:p>
        </p:txBody>
      </p:sp>
      <p:sp>
        <p:nvSpPr>
          <p:cNvPr id="17" name="teinte Laiton"/>
          <p:cNvSpPr/>
          <p:nvPr/>
        </p:nvSpPr>
        <p:spPr>
          <a:xfrm>
            <a:off x="9875520" y="8138160"/>
            <a:ext cx="685800" cy="685800"/>
          </a:xfrm>
          <a:prstGeom prst="ellipse">
            <a:avLst/>
          </a:prstGeom>
          <a:solidFill>
            <a:srgbClr val="C9A227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9848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Laiton</a:t>
            </a:r>
            <a:endParaRPr lang="en-US" sz="1200" dirty="0"/>
          </a:p>
        </p:txBody>
      </p:sp>
      <p:sp>
        <p:nvSpPr>
          <p:cNvPr id="19" name="teinte Crème"/>
          <p:cNvSpPr/>
          <p:nvPr/>
        </p:nvSpPr>
        <p:spPr>
          <a:xfrm>
            <a:off x="12207240" y="8138160"/>
            <a:ext cx="685800" cy="685800"/>
          </a:xfrm>
          <a:prstGeom prst="ellipse">
            <a:avLst/>
          </a:prstGeom>
          <a:solidFill>
            <a:srgbClr val="EFE4C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0302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Crème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9144000"/>
            <a:ext cx="1399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Direction B « Sous le badamier » (modernisme tropical) étudiée et non retenue ; son claustra en dos de livres reste une option.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d’aménagement</a:t>
            </a:r>
            <a:endParaRPr lang="en-US" sz="2600" dirty="0"/>
          </a:p>
        </p:txBody>
      </p:sp>
      <p:pic>
        <p:nvPicPr>
          <p:cNvPr id="3" name="image E01" descr="Plan d’aménagement E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652000" cy="8686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471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1737360"/>
            <a:ext cx="3337560" cy="786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seule grande porte de 1,60 m ; l’ancienne porte devient vitrine.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Accueil ouvert à gauche, meuble « Secrétaire » face aux livres.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Salle de réunion de 8,4 m², 9 places, table « Pirogue ».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Deux WC au nord : l’un ouvre sur la salle louée, l’autre sur la bibliothèque.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Bibliothèque « Kente » sur trois murs, échelle laiton.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Table d’hôtes, « Arbre à travail » au poteau, salon de lecture au fond.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Terrasse prolongée, pergola, chaises ÖVERALLT.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volume, coupé à 2,60 m</a:t>
            </a:r>
            <a:endParaRPr lang="en-US" sz="2600" dirty="0"/>
          </a:p>
        </p:txBody>
      </p:sp>
      <p:pic>
        <p:nvPicPr>
          <p:cNvPr id="3" name="image V01" descr="Axonométrie coup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07" y="1188720"/>
            <a:ext cx="13079186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4207" y="9436608"/>
            <a:ext cx="1307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Axonométrie calculée depuis la maquette IFC4. Le mur à démolir apparaît en orange transparent. Rendu de contrôle, sans textures.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entrant</a:t>
            </a:r>
            <a:endParaRPr lang="en-US" sz="2600" dirty="0"/>
          </a:p>
        </p:txBody>
      </p:sp>
      <p:pic>
        <p:nvPicPr>
          <p:cNvPr id="3" name="image P1" descr="Perspective depuis l’entr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3990320" cy="81610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59468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bibliothèque « Kente », la table d’hôtes, l’« Arbre à travail » et le salon au fond ; à gauche, la salle de réunion vitrée. Perspective calculée depuis la maquette, sans textures.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Depuis le salon de lecture</a:t>
            </a:r>
            <a:endParaRPr lang="en-US" sz="2600" dirty="0"/>
          </a:p>
        </p:txBody>
      </p:sp>
      <p:pic>
        <p:nvPicPr>
          <p:cNvPr id="3" name="image P2" descr="Perspective depuis le sal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692640" cy="5654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SALLE DE RÉUNION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Baies vitrées sur deux faces, rideaux en lin pour l’intimité.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 places : banquette de 5 le long de la baie, 4 chaises en face.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Circulation de 0,90 m vers la porte et le WC réunion.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Sans table, environ 12 chaises pour une présentation.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terrasse-salon sous pergola</a:t>
            </a:r>
            <a:endParaRPr lang="en-US" sz="2600" dirty="0"/>
          </a:p>
        </p:txBody>
      </p:sp>
      <p:pic>
        <p:nvPicPr>
          <p:cNvPr id="3" name="image A2" descr="Croquis A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49440" cy="4467497"/>
          </a:xfrm>
          <a:prstGeom prst="rect">
            <a:avLst/>
          </a:prstGeom>
        </p:spPr>
      </p:pic>
      <p:pic>
        <p:nvPicPr>
          <p:cNvPr id="4" name="image V02" descr="Axonométrie depuis la terras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188720"/>
            <a:ext cx="6766560" cy="42103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772400" y="550875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Croquis A2 de Dizzy et vue calculée depuis la maquette.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00800"/>
            <a:ext cx="1399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Terrasse prolongée d’environ 2,65 m au-delà du muret actuel, close par un claustra bas, des jardinières et un portillon.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Pergola en acier noir et lames de bois sur chant ; globes opalins pour une lumière tamisée.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Deux salons : banquettes en L, tables basses, chaises ÖVERALLT d’Issa Diabaté et tabourets.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lames ajourées ne protègent pas de la pluie : une couverture translucide est à décider.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L’emprise au-delà du muret doit être autorisée par écrit avant tout chiffrage.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bibliothèque « Kente » : trois propositions</a:t>
            </a:r>
            <a:endParaRPr lang="en-US" sz="2600" dirty="0"/>
          </a:p>
        </p:txBody>
      </p:sp>
      <p:pic>
        <p:nvPicPr>
          <p:cNvPr id="3" name="image V1_bibliotheque" descr="Planche de variantes La bibliothèque « Kent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244" y="1188720"/>
            <a:ext cx="12693112" cy="8321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bibliothèque « Kente »</a:t>
            </a:r>
            <a:endParaRPr lang="en-US" sz="2600" dirty="0"/>
          </a:p>
        </p:txBody>
      </p:sp>
      <p:pic>
        <p:nvPicPr>
          <p:cNvPr id="3" name="image M02_bibliotheque_kente" descr="Fiche La bibliothèque « Kent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2745" y="1188720"/>
            <a:ext cx="11742111" cy="7955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72745" y="9253728"/>
            <a:ext cx="117421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tablettes se décalent d’un module à l’autre et les fonds alternent crème, moutarde, olive et cognac : le mur se lit comme un pagne tissé, en modules droits faciles à fabriquer.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meuble d’accueil « Secrétaire » : trois propositions</a:t>
            </a:r>
            <a:endParaRPr lang="en-US" sz="2600" dirty="0"/>
          </a:p>
        </p:txBody>
      </p:sp>
      <p:pic>
        <p:nvPicPr>
          <p:cNvPr id="3" name="image V2_accueil" descr="Planche de variantes Le meuble d’accueil « Secrétair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244" y="1188720"/>
            <a:ext cx="12693112" cy="8321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meuble d’accueil « Secrétaire »</a:t>
            </a:r>
            <a:endParaRPr lang="en-US" sz="2600" dirty="0"/>
          </a:p>
        </p:txBody>
      </p:sp>
      <p:pic>
        <p:nvPicPr>
          <p:cNvPr id="3" name="image M01_accueil_secretaire" descr="Fiche Le meuble d’accueil « Secrétair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397" y="1188720"/>
            <a:ext cx="11560807" cy="7955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763397" y="9253728"/>
            <a:ext cx="11560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gradin présente « le livre du jour » aux visiteurs ; un cabinet à rideau à lattes cache la machine à café et ferme le café le soir.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table de réunion « Pirogue » : trois propositions</a:t>
            </a:r>
            <a:endParaRPr lang="en-US" sz="2600" dirty="0"/>
          </a:p>
        </p:txBody>
      </p:sp>
      <p:pic>
        <p:nvPicPr>
          <p:cNvPr id="3" name="image V3_table_reunion" descr="Planche de variantes La table de réunion « Pirogu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244" y="1188720"/>
            <a:ext cx="12693112" cy="8321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table de réunion « Pirogue »</a:t>
            </a:r>
            <a:endParaRPr lang="en-US" sz="2600" dirty="0"/>
          </a:p>
        </p:txBody>
      </p:sp>
      <p:pic>
        <p:nvPicPr>
          <p:cNvPr id="3" name="image M03_banquette_table_pirogue" descr="Fiche La table de réunion « Pirogu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557" y="1188720"/>
            <a:ext cx="11720486" cy="7955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83557" y="9253728"/>
            <a:ext cx="11720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Plateau de 2,50 × 0,80 m aux extrémités effilées comme une pirogue de la lagune Ébrié ; un filet de laiton cache la jonction : la table se divise en deux pour les ateliers.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postes de travail : l’« Arbre à travail » : trois propositions</a:t>
            </a:r>
            <a:endParaRPr lang="en-US" sz="2600" dirty="0"/>
          </a:p>
        </p:txBody>
      </p:sp>
      <p:pic>
        <p:nvPicPr>
          <p:cNvPr id="3" name="image V4_postes_travail" descr="Planche de variantes Les postes de travail : l’« Arbre à travail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244" y="1188720"/>
            <a:ext cx="12693112" cy="8321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postes de travail : l’« Arbre à travail »</a:t>
            </a:r>
            <a:endParaRPr lang="en-US" sz="2600" dirty="0"/>
          </a:p>
        </p:txBody>
      </p:sp>
      <p:pic>
        <p:nvPicPr>
          <p:cNvPr id="3" name="image M08_poste_arbre_a_travail" descr="Fiche Les postes de travail : l’« Arbre à travail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6526" y="1188720"/>
            <a:ext cx="11354548" cy="7955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66526" y="9253728"/>
            <a:ext cx="113545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poteau est habillé de lattes de noyer et porte une tablette pour deux, un séparateur en feutre et deux lampes ; des abattants dans le mur de la collection ajoutent des places.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assises</a:t>
            </a:r>
            <a:endParaRPr lang="en-US" sz="2600" dirty="0"/>
          </a:p>
        </p:txBody>
      </p:sp>
      <p:pic>
        <p:nvPicPr>
          <p:cNvPr id="3" name="image M04_fauteuil_lecture" descr="Fauteuil de lecture « Madame 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1295"/>
            <a:ext cx="4526280" cy="300148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85953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Fauteuil de lecture « Madame »</a:t>
            </a:r>
            <a:endParaRPr lang="en-US" sz="1300" dirty="0"/>
          </a:p>
        </p:txBody>
      </p:sp>
      <p:pic>
        <p:nvPicPr>
          <p:cNvPr id="5" name="image M05_chaise" descr="Chaise de table d’hôtes et de réun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391295"/>
            <a:ext cx="4526280" cy="300148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257800" y="85953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Chaise de table d’hôtes et de réunion</a:t>
            </a:r>
            <a:endParaRPr lang="en-US" sz="1300" dirty="0"/>
          </a:p>
        </p:txBody>
      </p:sp>
      <p:pic>
        <p:nvPicPr>
          <p:cNvPr id="7" name="image M07_chaise_overallt_issa_diabate" descr="Chaise ÖVERALLT d’Issa Diabaté (terrass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087186"/>
            <a:ext cx="4526280" cy="36097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966960" y="85953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Chaise ÖVERALLT d’Issa Diabaté (terrasse)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909828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chaise ÖVERALLT (Issa Diabaté et Kevin Gouriou, IKEA 2019) est figurée par son volume ; sa fabrication à Abidjan demande l’accord de l’auteur et de l’éditeur.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Électricité et éclairage tamisé</a:t>
            </a:r>
            <a:endParaRPr lang="en-US" sz="2600" dirty="0"/>
          </a:p>
        </p:txBody>
      </p:sp>
      <p:pic>
        <p:nvPicPr>
          <p:cNvPr id="3" name="image T01" descr="Plan T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347200" cy="8412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471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1737360"/>
            <a:ext cx="333756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Installation entièrement neuve, tableau près de l’entrée.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Trois scènes : jour, soir tamisé (≈ 30 %), fermeture.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Lumière 2 700 K gradable ; ≈ 300 lux sur les tables.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 12 kW installés, ≈ 8,5 kW foisonnés : abonnement à voir avec la CIE.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Plomberie, climatisation et ventilation</a:t>
            </a:r>
            <a:endParaRPr lang="en-US" sz="2600" dirty="0"/>
          </a:p>
        </p:txBody>
      </p:sp>
      <p:pic>
        <p:nvPicPr>
          <p:cNvPr id="3" name="image T02" descr="Plan T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03720" cy="6213348"/>
          </a:xfrm>
          <a:prstGeom prst="rect">
            <a:avLst/>
          </a:prstGeom>
        </p:spPr>
      </p:pic>
      <p:pic>
        <p:nvPicPr>
          <p:cNvPr id="4" name="image T03" descr="Plan T0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188720"/>
            <a:ext cx="6903720" cy="621334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7589520"/>
            <a:ext cx="1399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deux WC partagent une évacuation au fond ; l’évier du café, à 6,3 m, passe par une pompe de relevage.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Trois climatiseurs muraux (≈ 11,5 kW de froid), extraction mécanique des WC, brasseurs d’air sous la pergola.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Groupes extérieurs proposés sur le mur nord : accès, bruit et accord de la copropriété à valider.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Avant de chiffrer et de construire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POINTS À VALIDER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949440" cy="777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Mur à démolir : avis d’un ingénieur structure (immeuble habité au-dessus). S’il est porteur, une poutre de reprise d’environ 5 m reste possible.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Copropriété : accord pour la démolition, la terrasse prolongée, la pergola fixée en façade et les groupes de climatisation.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Relevé au laser : profondeur, façade d’angle à angle, hauteurs, réseaux et descentes existants.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Réglementation locale : accueil du public, sens d’ouverture de la porte, accessibilité du seuil et du WC, licence de boissons, bruit du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Exploitation du café : évier, pompe et chauffe-eau seulement si l’on prépare et lave sur place.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Chaises ÖVERALLT : accord d’Issa Diabaté et d’IKEA avant fabrication locale.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25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PROCHAINES ÉTAPES</a:t>
            </a:r>
            <a:endParaRPr lang="en-US" sz="1100" dirty="0"/>
          </a:p>
        </p:txBody>
      </p:sp>
      <p:sp>
        <p:nvSpPr>
          <p:cNvPr id="6" name="étape 1"/>
          <p:cNvSpPr/>
          <p:nvPr/>
        </p:nvSpPr>
        <p:spPr>
          <a:xfrm>
            <a:off x="8138160" y="1783080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38160" y="189280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15400" y="18013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Validation de l’esquisse par Madame Nandjui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2240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E01, mobilier, terrasse</a:t>
            </a:r>
            <a:endParaRPr lang="en-US" sz="1300" dirty="0"/>
          </a:p>
        </p:txBody>
      </p:sp>
      <p:sp>
        <p:nvSpPr>
          <p:cNvPr id="10" name="étape 2"/>
          <p:cNvSpPr/>
          <p:nvPr/>
        </p:nvSpPr>
        <p:spPr>
          <a:xfrm>
            <a:off x="8138160" y="3044952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Relevé et diagnostic structure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021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laser, sondage du mur, réseaux</a:t>
            </a:r>
            <a:endParaRPr lang="en-US" sz="1300" dirty="0"/>
          </a:p>
        </p:txBody>
      </p:sp>
      <p:sp>
        <p:nvSpPr>
          <p:cNvPr id="14" name="étape 3"/>
          <p:cNvSpPr/>
          <p:nvPr/>
        </p:nvSpPr>
        <p:spPr>
          <a:xfrm>
            <a:off x="8138160" y="4306824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44165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3251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Avant-projet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47640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plans cotés, détails du mobilier, maquette recalée</a:t>
            </a:r>
            <a:endParaRPr lang="en-US" sz="1300" dirty="0"/>
          </a:p>
        </p:txBody>
      </p:sp>
      <p:sp>
        <p:nvSpPr>
          <p:cNvPr id="18" name="étape 4"/>
          <p:cNvSpPr/>
          <p:nvPr/>
        </p:nvSpPr>
        <p:spPr>
          <a:xfrm>
            <a:off x="8138160" y="5568696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56784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558698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Consultation des artisans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602589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ébéniste, tapissier, métallier, électricien, plombier</a:t>
            </a:r>
            <a:endParaRPr lang="en-US" sz="1300" dirty="0"/>
          </a:p>
        </p:txBody>
      </p:sp>
      <p:sp>
        <p:nvSpPr>
          <p:cNvPr id="22" name="étape 5"/>
          <p:cNvSpPr/>
          <p:nvPr/>
        </p:nvSpPr>
        <p:spPr>
          <a:xfrm>
            <a:off x="8138160" y="6830568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694029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6848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Prototypes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72877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fauteuil, chaise, rideau à lattes, échelle</a:t>
            </a:r>
            <a:endParaRPr lang="en-US" sz="1300" dirty="0"/>
          </a:p>
        </p:txBody>
      </p:sp>
      <p:sp>
        <p:nvSpPr>
          <p:cNvPr id="26" name="étape 6"/>
          <p:cNvSpPr/>
          <p:nvPr/>
        </p:nvSpPr>
        <p:spPr>
          <a:xfrm>
            <a:off x="8138160" y="8092440"/>
            <a:ext cx="566928" cy="566928"/>
          </a:xfrm>
          <a:prstGeom prst="ellipse">
            <a:avLst/>
          </a:prstGeom>
          <a:solidFill>
            <a:srgbClr val="7AB648"/>
          </a:solidFill>
          <a:ln w="12700">
            <a:solidFill>
              <a:srgbClr val="7AB64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8202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81107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Travaux et installation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915400" y="8549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après autorisations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402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Méthode, maquette et 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SEULE GÉOMÉTRIE POUR TOUT LE DOSSIER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7665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Plans, coupes, vues 3D, perspectives et fiches mobilier sont calculés depuis les mêmes scripts.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Maquette NANDJUI_ESQ_V8.ifc (IFC4) : 0 erreur à la validation, 112 objets géométriques, statut de chaque objet (mesuré, estimé, proposé, à démolir).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Ouverture dans Revit non testée ; objets en volumes simples, pas en familles natives.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Les vues sont des rendus de maquette sans textures ni éclairage réaliste ; les croquis sont des dessins de principe.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0" y="13258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L’ÉQUIPE ARCHITECTURALE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73736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Guillaume (G-K) : coordination.  Dizzy : direction artistique.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Désiré Akai : aménagement et mobilier.  Manadja : maquette et contrôle DAO.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Génie : études techniques.  Fabrice Sawegnon : dossier.  Josiane : relecture.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38404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6747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Ces rôles organisent le travail d’une IA ; ils ne remplacent ni un architecte inscrit à l’Ordre, ni un bureau d’études agréé, ni les autorisations administratives.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49377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7AB64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RÉFÉRENCES MOBILIER CONSULTÉES LE 16 OCTOBRE 2026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5349240"/>
            <a:ext cx="6675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B0C1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Pierre Jeanneret (Vitra Design Museum, Merit) · Sergio Rodrigues (Metropolitan Museum of Art) · Charlotte Perriand (Cassina, Phillips) · Hans J. Wegner (Skandium) · George Nakashima (Baltimore Museum of Art) · Cheick Diallo (InCollect) · Jean Servais Somian (Forbes Afrique) · Issa Diabaté et IKEA ÖVERALLT (Dezeen, Domus, Chairish) · Pieter Peulen (Gubi). Liste complète et liens : v8/mobilier/REFERENCES.csv.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7C"/>
                </a:solidFill>
                <a:latin typeface="Century Gothic"/>
                <a:ea typeface="Century Gothic"/>
                <a:cs typeface="Century Gothic"/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ffi &amp; Diabaté">
  <a:themeElements>
    <a:clrScheme name="Koffi &amp; Diabaté">
      <a:dk1>
        <a:srgbClr val="0B0C12"/>
      </a:dk1>
      <a:lt1>
        <a:srgbClr val="FFFFFF"/>
      </a:lt1>
      <a:dk2>
        <a:srgbClr val="66747C"/>
      </a:dk2>
      <a:lt2>
        <a:srgbClr val="F2F2F2"/>
      </a:lt2>
      <a:accent1>
        <a:srgbClr val="7AB648"/>
      </a:accent1>
      <a:accent2>
        <a:srgbClr val="66747C"/>
      </a:accent2>
      <a:accent3>
        <a:srgbClr val="7A4A2A"/>
      </a:accent3>
      <a:accent4>
        <a:srgbClr val="A85F2C"/>
      </a:accent4>
      <a:accent5>
        <a:srgbClr val="56613A"/>
      </a:accent5>
      <a:accent6>
        <a:srgbClr val="C9962E"/>
      </a:accent6>
      <a:hlink>
        <a:srgbClr val="4F81BD"/>
      </a:hlink>
      <a:folHlink>
        <a:srgbClr val="66747C"/>
      </a:folHlink>
    </a:clrScheme>
    <a:fontScheme name="Koffi &amp; Diabaté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Koffi &amp; Diabaté Architectes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Café-bibliothèque Nandjui · esquisse V8</dc:title>
  <dc:subject>PptxGenJS Presentation</dc:subject>
  <dc:creator>L’équipe architecturale (rôles IA)</dc:creator>
  <cp:lastModifiedBy>L’équipe architecturale (rôles IA)</cp:lastModifiedBy>
  <cp:revision>1</cp:revision>
  <dcterms:created xsi:type="dcterms:W3CDTF">2026-10-16T01:25:17Z</dcterms:created>
  <dcterms:modified xsi:type="dcterms:W3CDTF">2026-10-16T01:25:17Z</dcterms:modified>
</cp:coreProperties>
</file>