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60df84ca-196d-5bba-bbdc-b9551716bf0c}">
          <p14:sldIdLst>
            <p14:sldId id="256"/>
            <p14:sldId id="257"/>
            <p14:sldId id="258"/>
            <p14:sldId id="259"/>
            <p14:sldId id="260"/>
          </p14:sldIdLst>
        </p14:section>
        <p14:section name="Aménagement" id="{9e9a524f-edbc-5e51-9484-3b3a792e5438}">
          <p14:sldIdLst>
            <p14:sldId id="261"/>
            <p14:sldId id="262"/>
            <p14:sldId id="263"/>
            <p14:sldId id="264"/>
            <p14:sldId id="265"/>
          </p14:sldIdLst>
        </p14:section>
        <p14:section name="Mobilier" id="{cee526ec-80ad-774c-230b-4270da57d6e3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Technique" id="{fdeb6836-5980-6b84-6ff8-9eb493d02e44}">
          <p14:sldIdLst>
            <p14:sldId id="291"/>
            <p14:sldId id="292"/>
            <p14:sldId id="293"/>
          </p14:sldIdLst>
        </p14:section>
        <p14:section name="Suite" id="{2bcefe33-8ec9-1bde-1e75-e2ed98fb10f8}">
          <p14:sldIdLst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85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Café-bibliothèque Nandjui · Abidjan · Esquisse V8 indice B · 16 octobre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image" Target="../media/image-11-8.jpg"/><Relationship Id="rId9" Type="http://schemas.openxmlformats.org/officeDocument/2006/relationships/image" Target="../media/image-11-9.jpg"/><Relationship Id="rId10" Type="http://schemas.openxmlformats.org/officeDocument/2006/relationships/image" Target="../media/image-11-10.jpg"/><Relationship Id="rId11" Type="http://schemas.openxmlformats.org/officeDocument/2006/relationships/image" Target="../media/image-11-11.jpg"/><Relationship Id="rId12" Type="http://schemas.openxmlformats.org/officeDocument/2006/relationships/image" Target="../media/image-11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P1" descr="Perspective depuis l’entr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499360"/>
            <a:ext cx="8814816" cy="51419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9260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Café-bibliothèque Nandjui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526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Esquisse d’aménagement intérieur et de terrasse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Dossier de présentation à Madame Nandjui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4091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Abidjan · 16 octobre 2026 · V8 indice B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9774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Document d’esquisse : cotes à confirmer par un relevé, études techniques de principe.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cocon mid-century, ouvert sur une terrasse du soir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PROJET EN BREF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Madame Nandjui ouvre sa bibliothèque personnelle au quartier.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vient y lire, y travailler et y prendre un café. Le soir, la terrasse couverte accueille la musique et la famille, sous une lumière tamisée.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seul volume ouvert : l’accueil-café à gauche, la bibliothèque à droite, sans cloison.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salle de réunion vitrée à louer, 9 places, avec son propre WC.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mur de la collection, une bibliothèque « Kente » du sol au plafond.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palette mid-century : noyer, velours cognac et olive, laiton, crème.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Dehors, des assises basses sous une pergola, dont les chaises d’Issa Diabaté.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858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49,2 m²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589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intérieur (profondeur estimée)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6858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 50 m²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7589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terrasse proposée, 42 m² sous pergola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6858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7589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places en salle de réunion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8229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8961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places de travail (table, poteau) + abattants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8229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8961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fauteuils de lecture au salon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8229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8961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WC : un pour la salle louée, un public</a:t>
            </a:r>
            <a:endParaRPr lang="en-US" sz="1300" dirty="0"/>
          </a:p>
        </p:txBody>
      </p:sp>
      <p:pic>
        <p:nvPicPr>
          <p:cNvPr id="18" name="image P3" descr="La terrasse sous perg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25880"/>
            <a:ext cx="6894576" cy="402183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680960" y="5457444"/>
            <a:ext cx="6894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terrasse-salon depuis le portillon. Perspective calculée depuis la maquette IFC.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lieu aujourd’hui</a:t>
            </a:r>
            <a:endParaRPr lang="en-US" sz="2600" dirty="0"/>
          </a:p>
        </p:txBody>
      </p:sp>
      <p:pic>
        <p:nvPicPr>
          <p:cNvPr id="3" name="image photo_facade" descr="La façade, le muret à grille et le parvis dallé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383280" cy="25374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0187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façade, le muret à grille et le parvis dallé.</a:t>
            </a:r>
            <a:endParaRPr lang="en-US" sz="1100" dirty="0"/>
          </a:p>
        </p:txBody>
      </p:sp>
      <p:pic>
        <p:nvPicPr>
          <p:cNvPr id="5" name="image photo_salle" descr="La grande salle : profonde, une seule baie haute au fon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383280" cy="2537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114800" y="40187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grande salle : profonde, une seule baie haute au fond.</a:t>
            </a:r>
            <a:endParaRPr lang="en-US" sz="1100" dirty="0"/>
          </a:p>
        </p:txBody>
      </p:sp>
      <p:pic>
        <p:nvPicPr>
          <p:cNvPr id="7" name="image photo_bleue" descr="La pièce bleue, future salle de réunion, et son volume haut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371600"/>
            <a:ext cx="3383280" cy="25374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680960" y="40187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pièce bleue, future salle de réunion, et son volume haut.</a:t>
            </a:r>
            <a:endParaRPr lang="en-US" sz="1100" dirty="0"/>
          </a:p>
        </p:txBody>
      </p:sp>
      <p:pic>
        <p:nvPicPr>
          <p:cNvPr id="9" name="image photo_arbre" descr="Au-delà du muret : dallage, pelouse et grand arbre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1371600"/>
            <a:ext cx="3383280" cy="253746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247120" y="40187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Au-delà du muret : dallage, pelouse et grand arbre.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54864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QUE L’ÉQUIPE RETIENT</a:t>
            </a:r>
            <a:endParaRPr lang="en-US" sz="11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5349240"/>
            <a:ext cx="8412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rez-de-chaussée d’immeuble habité : les logements au-dessus imposent une musique douce le soir.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ancien local de restauration, aux réseaux vétustes (fils nus, appareillage en applique) : tout est refait.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Deux bandes parallèles : 3,00 m à gauche, 3,60 m à droite, séparées par un mur et marquées par un poteau de 90 × 90 cm.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parvis de 2,75 m clos par un muret ; au-delà, un espace qui semble commun à la résidence.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950976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QUI RESTE À CONFIRMER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9509760" y="5349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profondeur totale (estimée à 7,60 m).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caractère porteur du mur à démolir.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statut de l’espace devant le muret.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hauteur sous plafond et les réseaux existants.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relevé et les cotes retenues</a:t>
            </a:r>
            <a:endParaRPr lang="en-US" sz="2600" dirty="0"/>
          </a:p>
        </p:txBody>
      </p:sp>
      <p:pic>
        <p:nvPicPr>
          <p:cNvPr id="3" name="image releve" descr="Croquis de relevé du 14 octo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206240" cy="60849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474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Croquis de relevé du 14 octobre, tourné façade en bas.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71600"/>
          <a:ext cx="92354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74320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ELEMENT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VALEUR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STATUT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61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Bande gauche (accueil, réunion, WC)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3,00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Grande salle (bibliothèque)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3,60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Mur de séparation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0,15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432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Estimé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Largeur intérieure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6,75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Calculé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Façade → face avant du poteau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3,30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Poteau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0,90 × 0,90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Fond → bloc WC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2,40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Profondeur totale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7,60 m (7,20 à 8,00)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432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Estimé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Parvis existant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2,75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Mesuré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Mesure prise sur la terrasse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1C17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5,50 m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432C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À rattacher</a:t>
                      </a:r>
                      <a:endParaRPr lang="en-US" sz="13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303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COMMENT LA PROFONDEUR A ÉTÉ ESTIMÉE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303520" y="6903720"/>
            <a:ext cx="9235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Sur le croquis, le poteau à 3,30 m tombe à 46 % de la profondeur dessinée (≈ 7,2 m) et le bloc WC de 2,40 m en occupe 30 % (≈ 8,0 m). L’ancienne maquette V7 retenait 7,68 m. Les photos confirment une salle longue sans donner de cote fiable. L’esquisse retient 7,60 m, à mesurer au laser avant les plans d’exécution.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parti : le salon de Madame, un cocon mid-century</a:t>
            </a:r>
            <a:endParaRPr lang="en-US" sz="2600" dirty="0"/>
          </a:p>
        </p:txBody>
      </p:sp>
      <p:pic>
        <p:nvPicPr>
          <p:cNvPr id="3" name="image A1" descr="Croquis A1, le cocon mid-centu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8961120" cy="5760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150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Croquis A1 de Dizzy : entrer dans le cocon.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GESTE FONDATEUR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 Et si l’on entrait dans la bibliothèque de Madame Nandjui comme on entre chez elle ? »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338328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intérieur années 50-70 : bois chaud, velours, laiton, lumière basse.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est refait ; la peinture bleue disparaît.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mur entre la pièce bleue et la grande salle tombe : la salle de réunion se ferme en baies vitrées.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terrasse prolonge le salon : assises basses sous une pergola, pas de grande table.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680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PALETTE</a:t>
            </a:r>
            <a:endParaRPr lang="en-US" sz="1100" dirty="0"/>
          </a:p>
        </p:txBody>
      </p:sp>
      <p:sp>
        <p:nvSpPr>
          <p:cNvPr id="9" name="teinte Noyer"/>
          <p:cNvSpPr/>
          <p:nvPr/>
        </p:nvSpPr>
        <p:spPr>
          <a:xfrm>
            <a:off x="548640" y="8138160"/>
            <a:ext cx="685800" cy="685800"/>
          </a:xfrm>
          <a:prstGeom prst="ellipse">
            <a:avLst/>
          </a:prstGeom>
          <a:solidFill>
            <a:srgbClr val="7A4A2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0" y="8339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Noyer</a:t>
            </a:r>
            <a:endParaRPr lang="en-US" sz="1200" dirty="0"/>
          </a:p>
        </p:txBody>
      </p:sp>
      <p:sp>
        <p:nvSpPr>
          <p:cNvPr id="11" name="teinte Velours cognac"/>
          <p:cNvSpPr/>
          <p:nvPr/>
        </p:nvSpPr>
        <p:spPr>
          <a:xfrm>
            <a:off x="2880360" y="8138160"/>
            <a:ext cx="685800" cy="685800"/>
          </a:xfrm>
          <a:prstGeom prst="ellipse">
            <a:avLst/>
          </a:prstGeom>
          <a:solidFill>
            <a:srgbClr val="A85F2C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8339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Velours cognac</a:t>
            </a:r>
            <a:endParaRPr lang="en-US" sz="1200" dirty="0"/>
          </a:p>
        </p:txBody>
      </p:sp>
      <p:sp>
        <p:nvSpPr>
          <p:cNvPr id="13" name="teinte Velours olive"/>
          <p:cNvSpPr/>
          <p:nvPr/>
        </p:nvSpPr>
        <p:spPr>
          <a:xfrm>
            <a:off x="5212080" y="8138160"/>
            <a:ext cx="685800" cy="685800"/>
          </a:xfrm>
          <a:prstGeom prst="ellipse">
            <a:avLst/>
          </a:prstGeom>
          <a:solidFill>
            <a:srgbClr val="56613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8339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Velours olive</a:t>
            </a:r>
            <a:endParaRPr lang="en-US" sz="1200" dirty="0"/>
          </a:p>
        </p:txBody>
      </p:sp>
      <p:sp>
        <p:nvSpPr>
          <p:cNvPr id="15" name="teinte Moutarde"/>
          <p:cNvSpPr/>
          <p:nvPr/>
        </p:nvSpPr>
        <p:spPr>
          <a:xfrm>
            <a:off x="7543800" y="8138160"/>
            <a:ext cx="685800" cy="685800"/>
          </a:xfrm>
          <a:prstGeom prst="ellipse">
            <a:avLst/>
          </a:prstGeom>
          <a:solidFill>
            <a:srgbClr val="C9962E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8339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Moutarde</a:t>
            </a:r>
            <a:endParaRPr lang="en-US" sz="1200" dirty="0"/>
          </a:p>
        </p:txBody>
      </p:sp>
      <p:sp>
        <p:nvSpPr>
          <p:cNvPr id="17" name="teinte Laiton"/>
          <p:cNvSpPr/>
          <p:nvPr/>
        </p:nvSpPr>
        <p:spPr>
          <a:xfrm>
            <a:off x="9875520" y="8138160"/>
            <a:ext cx="685800" cy="685800"/>
          </a:xfrm>
          <a:prstGeom prst="ellipse">
            <a:avLst/>
          </a:prstGeom>
          <a:solidFill>
            <a:srgbClr val="C9A227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698480" y="8339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Laiton</a:t>
            </a:r>
            <a:endParaRPr lang="en-US" sz="1200" dirty="0"/>
          </a:p>
        </p:txBody>
      </p:sp>
      <p:sp>
        <p:nvSpPr>
          <p:cNvPr id="19" name="teinte Crème"/>
          <p:cNvSpPr/>
          <p:nvPr/>
        </p:nvSpPr>
        <p:spPr>
          <a:xfrm>
            <a:off x="12207240" y="8138160"/>
            <a:ext cx="685800" cy="685800"/>
          </a:xfrm>
          <a:prstGeom prst="ellipse">
            <a:avLst/>
          </a:prstGeom>
          <a:solidFill>
            <a:srgbClr val="EFE4CC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030200" y="8339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Crème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9144000"/>
            <a:ext cx="1399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Direction B « Sous le badamier » (modernisme tropical) étudiée et non retenue ; son claustra en dos de livres reste une option.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d’aménagement</a:t>
            </a:r>
            <a:endParaRPr lang="en-US" sz="2600" dirty="0"/>
          </a:p>
        </p:txBody>
      </p:sp>
      <p:pic>
        <p:nvPicPr>
          <p:cNvPr id="3" name="image E01" descr="Plan d’aménagement E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652000" cy="8686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24712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1737360"/>
            <a:ext cx="3337560" cy="786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seule grande porte de 1,60 m ; l’ancienne porte devient vitrine.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Accueil ouvert à gauche, meuble « Secrétaire » face aux livres.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Salle de réunion de 8,4 m², 9 places, table « Pirogue ».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Deux WC au nord : l’un ouvre sur la salle louée, l’autre sur la bibliothèque.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Bibliothèque « Kente » sur trois murs, échelle laiton.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Table d’hôtes, « Arbre à travail » au poteau, salon de lecture au fond.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Terrasse prolongée, pergola, chaises ÖVERALLT.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volume, coupé à 2,60 m</a:t>
            </a:r>
            <a:endParaRPr lang="en-US" sz="2600" dirty="0"/>
          </a:p>
        </p:txBody>
      </p:sp>
      <p:pic>
        <p:nvPicPr>
          <p:cNvPr id="3" name="image V01" descr="Axonométrie coup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07" y="1188720"/>
            <a:ext cx="13079186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4207" y="9436608"/>
            <a:ext cx="1307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Axonométrie calculée depuis la maquette IFC4. Le mur à démolir apparaît en orange transparent. Rendu de contrôle, sans textures.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entrant</a:t>
            </a:r>
            <a:endParaRPr lang="en-US" sz="2600" dirty="0"/>
          </a:p>
        </p:txBody>
      </p:sp>
      <p:pic>
        <p:nvPicPr>
          <p:cNvPr id="3" name="image P1" descr="Perspective depuis l’entr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3990320" cy="81610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459468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bibliothèque « Kente », la table d’hôtes, l’« Arbre à travail » et le salon au fond ; à gauche, la salle de réunion vitrée. Perspective calculée depuis la maquette, sans textures.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Depuis le salon de lecture</a:t>
            </a:r>
            <a:endParaRPr lang="en-US" sz="2600" dirty="0"/>
          </a:p>
        </p:txBody>
      </p:sp>
      <p:pic>
        <p:nvPicPr>
          <p:cNvPr id="3" name="image P2" descr="Perspective depuis le sal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692640" cy="5654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6070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SALLE DE RÉUNION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607040" y="1737360"/>
            <a:ext cx="39319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Baies vitrées sur deux faces, rideaux en lin pour l’intimité.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 places : banquette de 5 le long de la baie, 4 chaises en face.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Circulation de 0,90 m vers la porte et le WC réunion.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Sans table, environ 12 chaises pour une présentation.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terrasse-salon sous pergola</a:t>
            </a:r>
            <a:endParaRPr lang="en-US" sz="2600" dirty="0"/>
          </a:p>
        </p:txBody>
      </p:sp>
      <p:pic>
        <p:nvPicPr>
          <p:cNvPr id="3" name="image A2" descr="Croquis A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4467497"/>
          </a:xfrm>
          <a:prstGeom prst="rect">
            <a:avLst/>
          </a:prstGeom>
        </p:spPr>
      </p:pic>
      <p:pic>
        <p:nvPicPr>
          <p:cNvPr id="4" name="image V02" descr="Axonométrie depuis la terras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88720"/>
            <a:ext cx="6766560" cy="42103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0" y="55087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Croquis A2 de Dizzy et vue calculée depuis la maquette.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00800"/>
            <a:ext cx="1399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Terrasse prolongée d’environ 2,65 m au-delà du muret actuel, close par un claustra bas, des jardinières et un portillon.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Pergola en acier noir et lames de bois sur chant ; globes opalins pour une lumière tamisée.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Deux salons : banquettes en L, tables basses, chaises ÖVERALLT d’Issa Diabaté et Kevin Gouriou, et tabourets.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lames ajourées ne protègent pas de la pluie : une couverture translucide est à décider.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L’emprise au-delà du muret doit être autorisée par écrit avant tout chiffrage.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mobilier : douze modèles au choix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399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 chaque meuble, trois modèles sont dessinés. L’équipe en recommande un, mais tous sont réalisables à Abidjan par un ébéniste, un tapissier et un métallier : Madame Nandjui choisit, et peut combiner des idées d’un modèle à l’autre.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bibliothèque</a:t>
            </a:r>
            <a:endParaRPr lang="en-US" sz="1500" dirty="0"/>
          </a:p>
        </p:txBody>
      </p:sp>
      <p:pic>
        <p:nvPicPr>
          <p:cNvPr id="5" name="image VAR_V1_A" descr="A · « Kent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517866"/>
            <a:ext cx="1737360" cy="13650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« Kente »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recommandé</a:t>
            </a:r>
            <a:endParaRPr lang="en-US" sz="1000" dirty="0"/>
          </a:p>
        </p:txBody>
      </p:sp>
      <p:pic>
        <p:nvPicPr>
          <p:cNvPr id="8" name="image VAR_V1_B" descr="B · « Claustra 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517866"/>
            <a:ext cx="1737360" cy="13650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0684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« Claustra »</a:t>
            </a:r>
            <a:endParaRPr lang="en-US" sz="1200" dirty="0"/>
          </a:p>
        </p:txBody>
      </p:sp>
      <p:pic>
        <p:nvPicPr>
          <p:cNvPr id="10" name="image VAR_V1_C" descr="C · « Lutrin 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517866"/>
            <a:ext cx="1737360" cy="13650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71016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« Lutrin »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846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meuble d’accueil</a:t>
            </a:r>
            <a:endParaRPr lang="en-US" sz="1500" dirty="0"/>
          </a:p>
        </p:txBody>
      </p:sp>
      <p:pic>
        <p:nvPicPr>
          <p:cNvPr id="13" name="image VAR_V2_A" descr="A · « Enfilade »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300946"/>
            <a:ext cx="1737360" cy="136506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0352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« Enfilade »</a:t>
            </a:r>
            <a:endParaRPr lang="en-US" sz="1200" dirty="0"/>
          </a:p>
        </p:txBody>
      </p:sp>
      <p:pic>
        <p:nvPicPr>
          <p:cNvPr id="15" name="image VAR_V2_B" descr="B · « Secrétaire »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300946"/>
            <a:ext cx="1737360" cy="136506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00684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« Secrétaire »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900684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recommandé</a:t>
            </a:r>
            <a:endParaRPr lang="en-US" sz="1000" dirty="0"/>
          </a:p>
        </p:txBody>
      </p:sp>
      <p:pic>
        <p:nvPicPr>
          <p:cNvPr id="18" name="image VAR_V2_C" descr="C · « Comptoir-bibliothèque »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4300946"/>
            <a:ext cx="1737360" cy="1365069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71016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« Comptoir-bibliothèque »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6629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table de réunion</a:t>
            </a:r>
            <a:endParaRPr lang="en-US" sz="1500" dirty="0"/>
          </a:p>
        </p:txBody>
      </p:sp>
      <p:pic>
        <p:nvPicPr>
          <p:cNvPr id="21" name="image VAR_V3_A" descr="A · « Compas »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6084026"/>
            <a:ext cx="1737360" cy="136506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303520" y="6492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« Compas »</a:t>
            </a:r>
            <a:endParaRPr lang="en-US" sz="1200" dirty="0"/>
          </a:p>
        </p:txBody>
      </p:sp>
      <p:pic>
        <p:nvPicPr>
          <p:cNvPr id="23" name="image VAR_V3_B" descr="B · « Pirogue »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6084026"/>
            <a:ext cx="1737360" cy="1365069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9006840" y="6492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« Pirogue »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9006840" y="6903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recommandé</a:t>
            </a:r>
            <a:endParaRPr lang="en-US" sz="1000" dirty="0"/>
          </a:p>
        </p:txBody>
      </p:sp>
      <p:pic>
        <p:nvPicPr>
          <p:cNvPr id="26" name="image VAR_V3_C" descr="C · « Tréteaux »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0" y="6084026"/>
            <a:ext cx="1737360" cy="1365069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2710160" y="6492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« Tréteaux »</a:t>
            </a:r>
            <a:endParaRPr lang="en-US" sz="1200" dirty="0"/>
          </a:p>
        </p:txBody>
      </p:sp>
      <p:sp>
        <p:nvSpPr>
          <p:cNvPr id="28" name="Text 17"/>
          <p:cNvSpPr txBox="1"/>
          <p:nvPr/>
        </p:nvSpPr>
        <p:spPr>
          <a:xfrm>
            <a:off x="548640" y="8412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postes de travail</a:t>
            </a:r>
            <a:endParaRPr lang="en-US" sz="1500" dirty="0"/>
          </a:p>
        </p:txBody>
      </p:sp>
      <p:pic>
        <p:nvPicPr>
          <p:cNvPr id="29" name="image VAR_V4_A" descr="A · « Arbre à travail »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7867106"/>
            <a:ext cx="1737360" cy="1365069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5303520" y="8275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« Arbre à travail »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5303520" y="8686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recommandé</a:t>
            </a:r>
            <a:endParaRPr lang="en-US" sz="1000" dirty="0"/>
          </a:p>
        </p:txBody>
      </p:sp>
      <p:pic>
        <p:nvPicPr>
          <p:cNvPr id="32" name="image VAR_V4_B" descr="B · « Bureau à oreilles »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8040" y="7867106"/>
            <a:ext cx="1737360" cy="1365069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9006840" y="8275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« Bureau à oreilles »</a:t>
            </a:r>
            <a:endParaRPr lang="en-US" sz="1200" dirty="0"/>
          </a:p>
        </p:txBody>
      </p:sp>
      <p:pic>
        <p:nvPicPr>
          <p:cNvPr id="34" name="image VAR_V4_C" descr="C · « Abattant »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0" y="7867106"/>
            <a:ext cx="1737360" cy="1365069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2710160" y="8275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« Abattant »</a:t>
            </a:r>
            <a:endParaRPr lang="en-US" sz="1200" dirty="0"/>
          </a:p>
        </p:txBody>
      </p:sp>
      <p:sp>
        <p:nvSpPr>
          <p:cNvPr id="36" name="Text 22"/>
          <p:cNvSpPr txBox="1"/>
          <p:nvPr/>
        </p:nvSpPr>
        <p:spPr>
          <a:xfrm>
            <a:off x="12710160" y="8686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bibliothèque : trois propositions</a:t>
            </a:r>
            <a:endParaRPr lang="en-US" sz="2600" dirty="0"/>
          </a:p>
        </p:txBody>
      </p:sp>
      <p:pic>
        <p:nvPicPr>
          <p:cNvPr id="3" name="image V1_bibliotheque" descr="Planche de variantes : La bibliothè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44" y="1188720"/>
            <a:ext cx="12693112" cy="8321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bibliothèque, modèle A « Kente »</a:t>
            </a:r>
            <a:endParaRPr lang="en-US" sz="2600" dirty="0"/>
          </a:p>
        </p:txBody>
      </p:sp>
      <p:pic>
        <p:nvPicPr>
          <p:cNvPr id="3" name="image VAR_V1_A" descr="« Kent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recommandé"/>
          <p:cNvSpPr/>
          <p:nvPr/>
        </p:nvSpPr>
        <p:spPr>
          <a:xfrm>
            <a:off x="996696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0" y="1408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RECOMMANDE PAR L’EQUIPE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9659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tablettes se décalent d'un module à l'autre et les fonds alternent crème, moutarde, olive et cognac. Le mur se lit comme une bande de pagne tissé, sans une seule courbe à fabriquer. Une échelle en laiton court sur un rail pour atteindre le haut.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4526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Original et propre au lieu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Modules droits, fabrication en série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Échelle utile à 2,90 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6675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Fonds peints à entretenir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Hauteurs de livres limitées par case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bibliothèque, modèle B « Claustra »</a:t>
            </a:r>
            <a:endParaRPr lang="en-US" sz="2600" dirty="0"/>
          </a:p>
        </p:txBody>
      </p:sp>
      <p:pic>
        <p:nvPicPr>
          <p:cNvPr id="3" name="image VAR_V1_B" descr="« Claustra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grille de casiers de 0,40 m, dont certaines cases sont fermées par du cannage ou un claustra en terre cuite. L'esprit du modernisme tropical d'Abidjan.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Très graphique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Cases fermées pour le rangement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Cases de 0,40 m trop basses pour les grands livres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Beaucoup d'assemblages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bibliothèque, modèle C « Lutrin »</a:t>
            </a:r>
            <a:endParaRPr lang="en-US" sz="2600" dirty="0"/>
          </a:p>
        </p:txBody>
      </p:sp>
      <p:pic>
        <p:nvPicPr>
          <p:cNvPr id="3" name="image VAR_V1_C" descr="« Lutrin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rayonnage continu, avec un bandeau incliné à hauteur des yeux qui présente les livres de face, comme chez un libraire, et des niches vitrées au-dessus.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 en valeur les livres coups de cœur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Simple à lire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Plus classique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bandeau mange une rangée de livres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modèle recommandé en détail : la bibliothèque</a:t>
            </a:r>
            <a:endParaRPr lang="en-US" sz="2600" dirty="0"/>
          </a:p>
        </p:txBody>
      </p:sp>
      <p:pic>
        <p:nvPicPr>
          <p:cNvPr id="3" name="image M02_bibliotheque_kente" descr="Fiche La bibliothè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778" y="1188720"/>
            <a:ext cx="12012044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464040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Recommandation de l'équipe : « Kente » : c'est la seule qui donne une identité forte au mur tout en restant faite de modules droits. Il y ajoute les niches-vitrines pour les livres rares et le bandeau-lutrin de C sur un module près de l'entrée.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meuble d’accueil : trois propositions</a:t>
            </a:r>
            <a:endParaRPr lang="en-US" sz="2600" dirty="0"/>
          </a:p>
        </p:txBody>
      </p:sp>
      <p:pic>
        <p:nvPicPr>
          <p:cNvPr id="3" name="image V2_accueil" descr="Planche de variantes : Le meuble d’accu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44" y="1188720"/>
            <a:ext cx="12693112" cy="8321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meuble d’accueil, modèle A « Enfilade »</a:t>
            </a:r>
            <a:endParaRPr lang="en-US" sz="2600" dirty="0"/>
          </a:p>
        </p:txBody>
      </p:sp>
      <p:pic>
        <p:nvPicPr>
          <p:cNvPr id="3" name="image VAR_V2_A" descr="« Enfilad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L'enfilade mid-century en noyer sur pieds fuselés, façade cannelée et repose-pieds en laiton (fiche M01 d'origine).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Élégant, simple à fabriquer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machines restent visibles le soir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meuble d’accueil, modèle B « Secrétaire »</a:t>
            </a:r>
            <a:endParaRPr lang="en-US" sz="2600" dirty="0"/>
          </a:p>
        </p:txBody>
      </p:sp>
      <p:pic>
        <p:nvPicPr>
          <p:cNvPr id="3" name="image VAR_V2_B" descr="« Secrétair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recommandé"/>
          <p:cNvSpPr/>
          <p:nvPr/>
        </p:nvSpPr>
        <p:spPr>
          <a:xfrm>
            <a:off x="996696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0" y="1408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RECOMMANDE PAR L’EQUIPE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9659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L'enfilade gagne un gradin où Madame expose « le livre du jour », et un cabinet à rideau à lattes, comme un secrétaire des années 60, qui cache la machine à café à la fermeture.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4526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Raconte la bibliothèque dès l'entrée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ferme le soir : le lieu reste un salon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Rideau à lattes : savoir-faire d'ébéniste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6675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Rideau à lattes à soigner (guidage)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meuble d’accueil, modèle C « Comptoir-bibliothèque »</a:t>
            </a:r>
            <a:endParaRPr lang="en-US" sz="2600" dirty="0"/>
          </a:p>
        </p:txBody>
      </p:sp>
      <p:pic>
        <p:nvPicPr>
          <p:cNvPr id="3" name="image VAR_V2_C" descr="« Comptoir-bibliothèqu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comptoir en L dont la façade côté clients est une bibliothèque ouverte : les livres commencent dès l'accueil.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Continuité avec le mur de la collection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Livres exposés aux éclaboussures du café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Plus encombrant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modèle recommandé en détail : le meuble d’accueil</a:t>
            </a:r>
            <a:endParaRPr lang="en-US" sz="2600" dirty="0"/>
          </a:p>
        </p:txBody>
      </p:sp>
      <p:pic>
        <p:nvPicPr>
          <p:cNvPr id="3" name="image M01_accueil_secretaire" descr="Fiche Le meuble d’accue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514" y="1188720"/>
            <a:ext cx="11826572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464040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Recommandation de l'équipe : « Secrétaire » : il reste un meuble de famille, il présente un livre à chaque visiteur et il transforme le café en salon à la fermeture.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table de réunion : trois propositions</a:t>
            </a:r>
            <a:endParaRPr lang="en-US" sz="2600" dirty="0"/>
          </a:p>
        </p:txBody>
      </p:sp>
      <p:pic>
        <p:nvPicPr>
          <p:cNvPr id="3" name="image V3_table_reunion" descr="Planche de variantes : La table de réun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44" y="1188720"/>
            <a:ext cx="12693112" cy="8321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table de réunion, modèle A « Compas »</a:t>
            </a:r>
            <a:endParaRPr lang="en-US" sz="2600" dirty="0"/>
          </a:p>
        </p:txBody>
      </p:sp>
      <p:pic>
        <p:nvPicPr>
          <p:cNvPr id="3" name="image VAR_V3_A" descr="« Compas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Plateau noyer sur deux piètements en V, inspirés des meubles de Chandigarh.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Léger, classique mid-century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pieds en V gênent les genoux aux extrémités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table de réunion, modèle B « Pirogue »</a:t>
            </a:r>
            <a:endParaRPr lang="en-US" sz="2600" dirty="0"/>
          </a:p>
        </p:txBody>
      </p:sp>
      <p:pic>
        <p:nvPicPr>
          <p:cNvPr id="3" name="image VAR_V3_B" descr="« Pirogu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recommandé"/>
          <p:cNvSpPr/>
          <p:nvPr/>
        </p:nvSpPr>
        <p:spPr>
          <a:xfrm>
            <a:off x="996696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0" y="1408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RECOMMANDE PAR L’EQUIPE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9659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extrémités du plateau s'effilent comme une pirogue de la lagune Ébrié. Un filet de laiton court au centre et cache la jonction : la table se divise en deux pour des ateliers. Pieds-lames en retrait, goulotte à câbles en laiton sous le plateau.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4526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Histoire locale, forme mémorable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Divisible pour la location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Câbles cachés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6675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Extrémités effilées : pas de place en bout de table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table de réunion, modèle C « Tréteaux »</a:t>
            </a:r>
            <a:endParaRPr lang="en-US" sz="2600" dirty="0"/>
          </a:p>
        </p:txBody>
      </p:sp>
      <p:pic>
        <p:nvPicPr>
          <p:cNvPr id="3" name="image VAR_V3_C" descr="« Tréteaux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Deux tables de 1,25 m sur tréteaux en acier, à assembler en long, en T ou en salle de classe.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plus modulable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Économique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Moins de caractère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Aspect provisoire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modèle recommandé en détail : la table de réunion</a:t>
            </a:r>
            <a:endParaRPr lang="en-US" sz="2600" dirty="0"/>
          </a:p>
        </p:txBody>
      </p:sp>
      <p:pic>
        <p:nvPicPr>
          <p:cNvPr id="3" name="image M03_banquette_table_pirogue" descr="Fiche La table de réun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839" y="1188720"/>
            <a:ext cx="11989923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464040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Recommandation de l'équipe : « Pirogue » : une table signature, qui se divise quand même en deux pour les ateliers de location, et qui garde les 9 places.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postes de travail : trois propositions</a:t>
            </a:r>
            <a:endParaRPr lang="en-US" sz="2600" dirty="0"/>
          </a:p>
        </p:txBody>
      </p:sp>
      <p:pic>
        <p:nvPicPr>
          <p:cNvPr id="3" name="image V4_postes_travail" descr="Planche de variantes : Les postes de trav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244" y="1188720"/>
            <a:ext cx="12693112" cy="8321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postes de travail, modèle A « Arbre à travail »</a:t>
            </a:r>
            <a:endParaRPr lang="en-US" sz="2600" dirty="0"/>
          </a:p>
        </p:txBody>
      </p:sp>
      <p:pic>
        <p:nvPicPr>
          <p:cNvPr id="3" name="image VAR_V4_A" descr="« Arbre à travail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recommandé"/>
          <p:cNvSpPr/>
          <p:nvPr/>
        </p:nvSpPr>
        <p:spPr>
          <a:xfrm>
            <a:off x="996696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0" y="1408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RECOMMANDE PAR L’EQUIPE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9659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poteau est habillé de lattes de noyer et devient un meuble : tablette pour deux, séparateur en feutre, étagère et deux lampes en laiton. On transforme une contrainte en pièce signature.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4526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Valorise le poteau existant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Deux places sans surface en plus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Prises intégrées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6675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Deux places seulement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postes de travail, modèle B « Bureau à oreilles »</a:t>
            </a:r>
            <a:endParaRPr lang="en-US" sz="2600" dirty="0"/>
          </a:p>
        </p:txBody>
      </p:sp>
      <p:pic>
        <p:nvPicPr>
          <p:cNvPr id="3" name="image VAR_V4_B" descr="« Bureau à oreilles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96696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petit bureau de 0,90 × 0,55 m avec des joues en feutre qui isolent du bruit, une étagère et une lampe.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38862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Concentration, acoustique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Mobile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035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Prend de la place au sol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postes de travail, modèle C « Abattant »</a:t>
            </a:r>
            <a:endParaRPr lang="en-US" sz="2600" dirty="0"/>
          </a:p>
        </p:txBody>
      </p:sp>
      <p:pic>
        <p:nvPicPr>
          <p:cNvPr id="3" name="image VAR_V4_C" descr="« Abattant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8961120" cy="7040880"/>
          </a:xfrm>
          <a:prstGeom prst="rect">
            <a:avLst/>
          </a:prstGeom>
        </p:spPr>
      </p:pic>
      <p:sp>
        <p:nvSpPr>
          <p:cNvPr id="4" name="recommandé"/>
          <p:cNvSpPr/>
          <p:nvPr/>
        </p:nvSpPr>
        <p:spPr>
          <a:xfrm>
            <a:off x="9966960" y="13258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0" y="1408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RECOMMANDE PAR L’EQUIPE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9659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Certains modules du mur de la collection cachent un abattant : on l'ouvre, on s'assoit, on travaille au milieu des livres ; on le referme le soir.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4526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Postes en plus sans surface au sol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à fait dans le concept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6675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Places à la demande, sans lampe dédiée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modèle recommandé en détail : les postes de travail</a:t>
            </a:r>
            <a:endParaRPr lang="en-US" sz="2600" dirty="0"/>
          </a:p>
        </p:txBody>
      </p:sp>
      <p:pic>
        <p:nvPicPr>
          <p:cNvPr id="3" name="image M08_poste_arbre_a_travail" descr="Fiche Les postes de trav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014" y="1188720"/>
            <a:ext cx="11615572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464040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Recommandation de l'équipe : « Arbre à travail » pour les deux postes fixes, complété par deux ou trois « Abattants » dans le mur de la collection pour les jours d'affluence.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assises : le fauteuil de lecture « Madame »</a:t>
            </a:r>
            <a:endParaRPr lang="en-US" sz="2600" dirty="0"/>
          </a:p>
        </p:txBody>
      </p:sp>
      <p:pic>
        <p:nvPicPr>
          <p:cNvPr id="3" name="image M04_fauteuil_lecture" descr="Les assises : le fauteuil de lecture « Madame 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581" y="1188720"/>
            <a:ext cx="12272437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07581" y="9436608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 le salon de lecture : quatre fauteuils bas, noyer et velours cognac ou olive.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assises : la chaise de table d’hôtes et de réunion</a:t>
            </a:r>
            <a:endParaRPr lang="en-US" sz="2600" dirty="0"/>
          </a:p>
        </p:txBody>
      </p:sp>
      <p:pic>
        <p:nvPicPr>
          <p:cNvPr id="3" name="image M05_chaise" descr="Les assises : la chaise de table d’hôtes et de réun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581" y="1188720"/>
            <a:ext cx="12272437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07581" y="9436608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même chaise sert à la table d’hôtes et en salle de réunion.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assises : le fauteuil bas de terrasse (variante)</a:t>
            </a:r>
            <a:endParaRPr lang="en-US" sz="2600" dirty="0"/>
          </a:p>
        </p:txBody>
      </p:sp>
      <p:pic>
        <p:nvPicPr>
          <p:cNvPr id="3" name="image M06_fauteuil_terrasse" descr="Les assises : le fauteuil bas de terrasse (varian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742" y="1188720"/>
            <a:ext cx="12090117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98742" y="9436608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Variante dessinée par l’équipe pour la terrasse, si les chaises ÖVERALLT ne peuvent pas être fabriquées.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assises : la chaise ÖVERALLT d’Issa Diabaté</a:t>
            </a:r>
            <a:endParaRPr lang="en-US" sz="2600" dirty="0"/>
          </a:p>
        </p:txBody>
      </p:sp>
      <p:pic>
        <p:nvPicPr>
          <p:cNvPr id="3" name="image M07_chaise_overallt_issa_diabate" descr="Les assises : la chaise ÖVERALLT d’Issa Diaba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505" y="1188720"/>
            <a:ext cx="10204589" cy="8138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441505" y="9436608"/>
            <a:ext cx="1399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chaise ÖVERALLT (Issa Diabaté et Kevin Gouriou, IKEA 2019) est une œuvre protégée par le droit d’auteur. Elle est figurée ici par son volume ; sa fabrication à Abidjan demande l’accord de ses auteurs et d’IKEA.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Électricité et éclairage tamisé</a:t>
            </a:r>
            <a:endParaRPr lang="en-US" sz="2600" dirty="0"/>
          </a:p>
        </p:txBody>
      </p:sp>
      <p:pic>
        <p:nvPicPr>
          <p:cNvPr id="3" name="image T01" descr="Plan T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448800" cy="8503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6070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607040" y="1737360"/>
            <a:ext cx="393192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Installation entièrement neuve, tableau près de l’entrée.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Trois scènes : jour, soir tamisé (≈ 30 %), fermeture.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Lumière 2 700 K gradable ; ≈ 300 lux sur les tables.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 12 kW installés, ≈ 8,5 kW foisonnés : abonnement à voir avec la CIE.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8778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Schéma de principe à faire valider par un bureau d’études et les concessionnaires.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Plomberie</a:t>
            </a:r>
            <a:endParaRPr lang="en-US" sz="2600" dirty="0"/>
          </a:p>
        </p:txBody>
      </p:sp>
      <p:pic>
        <p:nvPicPr>
          <p:cNvPr id="3" name="image T02" descr="Plan T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448800" cy="8503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6070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607040" y="1737360"/>
            <a:ext cx="393192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deux WC partagent une évacuation au fond.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L’évier du café, à 6,3 m de la chute, passe par une pompe de relevage.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Évier, pompe et chauffe-eau seulement si l’on prépare et lave sur place.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8778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Schéma de principe à faire valider par un bureau d’études et les concessionnaires.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Climatisation et ventilation</a:t>
            </a:r>
            <a:endParaRPr lang="en-US" sz="2600" dirty="0"/>
          </a:p>
        </p:txBody>
      </p:sp>
      <p:pic>
        <p:nvPicPr>
          <p:cNvPr id="3" name="image T03" descr="Plan T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448800" cy="8503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6070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607040" y="1737360"/>
            <a:ext cx="393192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Trois climatiseurs muraux (≈ 11,5 kW de froid).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Extraction mécanique des WC ; brasseurs d’air sous la pergola.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Groupes extérieurs proposés sur le mur nord : accès, bruit et accord de la copropriété à valider.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8778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Schéma de principe à faire valider par un bureau d’études et les concessionnaires.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Avant de chiffrer et de construire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POINTS À VALIDER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94944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Mur à démolir : avis d’un ingénieur structure (immeuble habité au-dessus). S’il est porteur, une poutre de reprise d’environ 5 m reste possible.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Copropriété : accord pour la démolition, la terrasse prolongée, la pergola fixée en façade et les groupes de climatisation.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Relevé au laser : profondeur, façade d’angle à angle, hauteurs, réseaux et descentes existants.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Réglementation locale : accueil du public, sens d’ouverture de la porte, accessibilité du seuil et du WC, licence de boissons, bruit du soir.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Exploitation du café : évier, pompe et chauffe-eau seulement si l’on prépare et lave sur place.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4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Chaises ÖVERALLT : œuvre protégée par le droit d’auteur ; accord d’Issa Diabaté, de Kevin Gouriou et d’IKEA avant toute fabrication locale.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6" name="étape 1"/>
          <p:cNvSpPr/>
          <p:nvPr/>
        </p:nvSpPr>
        <p:spPr>
          <a:xfrm>
            <a:off x="8138160" y="1783080"/>
            <a:ext cx="566928" cy="566928"/>
          </a:xfrm>
          <a:prstGeom prst="ellipse">
            <a:avLst/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0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1801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Validation de l’esquisse par Madame Nandjui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E01, mobilier, terrasse</a:t>
            </a:r>
            <a:endParaRPr lang="en-US" sz="1300" dirty="0"/>
          </a:p>
        </p:txBody>
      </p:sp>
      <p:sp>
        <p:nvSpPr>
          <p:cNvPr id="10" name="étape 2"/>
          <p:cNvSpPr/>
          <p:nvPr/>
        </p:nvSpPr>
        <p:spPr>
          <a:xfrm>
            <a:off x="8138160" y="3044952"/>
            <a:ext cx="566928" cy="566928"/>
          </a:xfrm>
          <a:prstGeom prst="ellipse">
            <a:avLst/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31546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Relevé et diagnostic structure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5021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laser, sondage du mur, réseaux</a:t>
            </a:r>
            <a:endParaRPr lang="en-US" sz="1300" dirty="0"/>
          </a:p>
        </p:txBody>
      </p:sp>
      <p:sp>
        <p:nvSpPr>
          <p:cNvPr id="14" name="étape 3"/>
          <p:cNvSpPr/>
          <p:nvPr/>
        </p:nvSpPr>
        <p:spPr>
          <a:xfrm>
            <a:off x="8138160" y="4306824"/>
            <a:ext cx="566928" cy="566928"/>
          </a:xfrm>
          <a:prstGeom prst="ellipse">
            <a:avLst/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4416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3251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Avant-projet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7640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plans cotés, détails du mobilier, maquette recalée</a:t>
            </a:r>
            <a:endParaRPr lang="en-US" sz="1300" dirty="0"/>
          </a:p>
        </p:txBody>
      </p:sp>
      <p:sp>
        <p:nvSpPr>
          <p:cNvPr id="18" name="étape 4"/>
          <p:cNvSpPr/>
          <p:nvPr/>
        </p:nvSpPr>
        <p:spPr>
          <a:xfrm>
            <a:off x="8138160" y="5568696"/>
            <a:ext cx="566928" cy="566928"/>
          </a:xfrm>
          <a:prstGeom prst="ellipse">
            <a:avLst/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56784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55869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Consultation des artisans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60258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ébéniste, tapissier, métallier, électricien, plombier</a:t>
            </a:r>
            <a:endParaRPr lang="en-US" sz="1300" dirty="0"/>
          </a:p>
        </p:txBody>
      </p:sp>
      <p:sp>
        <p:nvSpPr>
          <p:cNvPr id="22" name="étape 5"/>
          <p:cNvSpPr/>
          <p:nvPr/>
        </p:nvSpPr>
        <p:spPr>
          <a:xfrm>
            <a:off x="8138160" y="6830568"/>
            <a:ext cx="566928" cy="566928"/>
          </a:xfrm>
          <a:prstGeom prst="ellipse">
            <a:avLst/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69402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68488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Prototypes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7287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fauteuil, chaise, rideau à lattes, échelle</a:t>
            </a:r>
            <a:endParaRPr lang="en-US" sz="1300" dirty="0"/>
          </a:p>
        </p:txBody>
      </p:sp>
      <p:sp>
        <p:nvSpPr>
          <p:cNvPr id="26" name="étape 6"/>
          <p:cNvSpPr/>
          <p:nvPr/>
        </p:nvSpPr>
        <p:spPr>
          <a:xfrm>
            <a:off x="8138160" y="8092440"/>
            <a:ext cx="566928" cy="566928"/>
          </a:xfrm>
          <a:prstGeom prst="ellipse">
            <a:avLst/>
          </a:prstGeom>
          <a:solidFill>
            <a:srgbClr val="A85F2C"/>
          </a:solidFill>
          <a:ln w="12700">
            <a:solidFill>
              <a:srgbClr val="A85F2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8160" y="82021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81107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Travaux et installation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8549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après autorisations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402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Méthode, maquette et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SEULE GÉOMÉTRIE POUR TOUT LE DOSSIER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Plans, coupes, vues 3D, perspectives et fiches mobilier sont calculés depuis les mêmes scripts.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Maquette NANDJUI_ESQ_V8.ifc (IFC4) : 0 erreur à la validation, 112 objets géométriques, statut de chaque objet (mesuré, estimé, proposé, à démolir).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Ouverture dans Revit non testée ; objets en volumes simples, pas en familles natives.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vues sont des rendus de maquette sans textures ni éclairage réaliste ; les croquis sont des dessins de principe.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325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L’ÉQUIPE ARCHITECTURALE (RÔLES IA)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73736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Guillaume (G-K) : coordination.  Dizzy : direction artistique.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Désiré Akai : aménagement et mobilier.  Manadja : maquette et contrôle DAO.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Génie : études techniques.  Fabrice Sawegnon : dossier.  Josiane : relecture.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38404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5E50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Ces noms désignent des rôles de travail d’une IA, pas des personnes ; ils ne remplacent ni un architecte inscrit à l’Ordre, ni un bureau d’études agréé, ni les autorisations administratives.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4937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A85F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RÉFÉRENCES MOBILIER CONSULTÉES LE 16 OCTOBRE 2026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534924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31C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Pierre Jeanneret (Vitra Design Museum, Merit) · Sergio Rodrigues (Metropolitan Museum of Art) · Charlotte Perriand (Cassina, Phillips) · Hans J. Wegner (Skandium) · George Nakashima (Baltimore Museum of Art) · Cheick Diallo (InCollect) · Jean Servais Somian (Forbes Afrique) · Issa Diabaté et IKEA ÖVERALLT (Dezeen, Domus, Chairish) · Pieter Peulen (Gubi). Liste complète et liens : v8/mobilier/REFERENCES.csv.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87768" y="100858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047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ct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ndjui mid-century">
  <a:themeElements>
    <a:clrScheme name="Nandjui mid-century">
      <a:dk1>
        <a:srgbClr val="231C17"/>
      </a:dk1>
      <a:lt1>
        <a:srgbClr val="FFFFFF"/>
      </a:lt1>
      <a:dk2>
        <a:srgbClr val="5E5047"/>
      </a:dk2>
      <a:lt2>
        <a:srgbClr val="F4EFE6"/>
      </a:lt2>
      <a:accent1>
        <a:srgbClr val="A85F2C"/>
      </a:accent1>
      <a:accent2>
        <a:srgbClr val="56613A"/>
      </a:accent2>
      <a:accent3>
        <a:srgbClr val="7A4A2A"/>
      </a:accent3>
      <a:accent4>
        <a:srgbClr val="C9962E"/>
      </a:accent4>
      <a:accent5>
        <a:srgbClr val="5E5047"/>
      </a:accent5>
      <a:accent6>
        <a:srgbClr val="B5432C"/>
      </a:accent6>
      <a:hlink>
        <a:srgbClr val="56613A"/>
      </a:hlink>
      <a:folHlink>
        <a:srgbClr val="5E5047"/>
      </a:folHlink>
    </a:clrScheme>
    <a:fontScheme name="Nandjui mid-century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Café-bibliothèque Nandjui · esquisse V8</dc:title>
  <dc:subject>PptxGenJS Presentation</dc:subject>
  <dc:creator>L’équipe architecturale (rôles IA)</dc:creator>
  <cp:lastModifiedBy>L’équipe architecturale (rôles IA)</cp:lastModifiedBy>
  <cp:revision>1</cp:revision>
  <dcterms:created xsi:type="dcterms:W3CDTF">2026-10-16T01:30:14Z</dcterms:created>
  <dcterms:modified xsi:type="dcterms:W3CDTF">2026-10-16T01:30:14Z</dcterms:modified>
</cp:coreProperties>
</file>