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5124176" cy="10689336"/>
  <p:notesSz cx="10689336" cy="1512417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ésentation" id="{97a8eb0a-a435-d813-c137-b0fb05197622}">
          <p14:sldIdLst>
            <p14:sldId id="256"/>
            <p14:sldId id="257"/>
            <p14:sldId id="265"/>
            <p14:sldId id="266"/>
            <p14:sldId id="267"/>
            <p14:sldId id="268"/>
          </p14:sldIdLst>
        </p14:section>
        <p14:section name="Une soirée chez Madame Nandjui" id="{cfecdbc6-1d60-1290-f486-5e57c20fa796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lans et coupes" id="{093cc305-9351-c08e-964b-44541431c90a}">
          <p14:sldIdLst>
            <p14:sldId id="269"/>
            <p14:sldId id="270"/>
            <p14:sldId id="271"/>
            <p14:sldId id="272"/>
          </p14:sldIdLst>
        </p14:section>
        <p14:section name="Aménagement" id="{9638a99f-f4fc-d5db-9dc2-d12e9442fbe0}">
          <p14:sldIdLst>
            <p14:sldId id="273"/>
            <p14:sldId id="274"/>
            <p14:sldId id="275"/>
          </p14:sldIdLst>
        </p14:section>
        <p14:section name="Mobilier" id="{1bca40ae-0a91-94af-bf49-3450485a8f70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Options" id="{f3af8bab-81d2-5353-39df-b6665e44a5ea}">
          <p14:sldIdLst>
            <p14:sldId id="301"/>
            <p14:sldId id="302"/>
          </p14:sldIdLst>
        </p14:section>
        <p14:section name="Technique" id="{9debaaaf-c44d-799c-080c-5d46f5e1ae39}">
          <p14:sldIdLst>
            <p14:sldId id="303"/>
            <p14:sldId id="304"/>
            <p14:sldId id="305"/>
          </p14:sldIdLst>
        </p14:section>
        <p14:section name="Suite" id="{e76aac7c-75fd-0588-93f3-798c32e225dd}">
          <p14:sldIdLst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85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Café-bibliothèque Nandjui · Abidjan · Esquisse V8 indice C · 16 octobre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EINE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image" Target="../media/image-13-7.jpg"/><Relationship Id="rId8" Type="http://schemas.openxmlformats.org/officeDocument/2006/relationships/image" Target="../media/image-13-8.jpg"/><Relationship Id="rId9" Type="http://schemas.openxmlformats.org/officeDocument/2006/relationships/image" Target="../media/image-13-9.jpg"/><Relationship Id="rId10" Type="http://schemas.openxmlformats.org/officeDocument/2006/relationships/image" Target="../media/image-13-10.jpg"/><Relationship Id="rId11" Type="http://schemas.openxmlformats.org/officeDocument/2006/relationships/image" Target="../media/image-13-11.jpg"/><Relationship Id="rId12" Type="http://schemas.openxmlformats.org/officeDocument/2006/relationships/image" Target="../media/image-13-12.jp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image" Target="../media/image-21-7.jpg"/><Relationship Id="rId8" Type="http://schemas.openxmlformats.org/officeDocument/2006/relationships/image" Target="../media/image-21-8.jpg"/><Relationship Id="rId9" Type="http://schemas.openxmlformats.org/officeDocument/2006/relationships/image" Target="../media/image-21-9.jpg"/><Relationship Id="rId10" Type="http://schemas.openxmlformats.org/officeDocument/2006/relationships/image" Target="../media/image-21-10.jpg"/><Relationship Id="rId11" Type="http://schemas.openxmlformats.org/officeDocument/2006/relationships/image" Target="../media/image-21-11.jpg"/><Relationship Id="rId12" Type="http://schemas.openxmlformats.org/officeDocument/2006/relationships/image" Target="../media/image-21-12.jp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image" Target="../media/image-32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image" Target="../media/image-37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image" Target="../media/image-4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3_soir" descr="La terrasse sous pergola, le soi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0"/>
            <a:ext cx="10369296" cy="10689336"/>
          </a:xfrm>
          <a:prstGeom prst="rect">
            <a:avLst/>
          </a:prstGeom>
        </p:spPr>
      </p:pic>
      <p:sp>
        <p:nvSpPr>
          <p:cNvPr id="3" name="colonne"/>
          <p:cNvSpPr/>
          <p:nvPr/>
        </p:nvSpPr>
        <p:spPr>
          <a:xfrm>
            <a:off x="0" y="0"/>
            <a:ext cx="4754880" cy="10689336"/>
          </a:xfrm>
          <a:prstGeom prst="rect">
            <a:avLst/>
          </a:prstGeom>
          <a:solidFill>
            <a:srgbClr val="1A1410"/>
          </a:solidFill>
          <a:ln w="12700">
            <a:solidFill>
              <a:srgbClr val="1A141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5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Café-bibliothèque Nandjui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2120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D9A8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salon de Madame : un cocon mid-century ouvert sur une terrasse du soir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922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Dossier de présentation à Madame Nandjui, avec toutes les options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9409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Abidjan · 16 octobre 2026 · Esquisse V8 indice C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9774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Document d’esquisse : cotes à confirmer par un relevé, études techniques de principe.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Un cocon mid-century, ouvert sur une terrasse du soir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PROJET EN BREF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Madame Nandjui ouvre sa bibliothèque personnelle au quartier. 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On vient y lire, y travailler et y prendre un café. Le soir, la terrasse couverte accueille la musique et la famille, sous une lumière tamisée.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6583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seul volume ouvert : l’accueil-café à gauche, la bibliothèque à droite, sans cloison.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salle de réunion vitrée à louer, 9 places, avec son propre WC.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mur de la collection, une bibliothèque « Kente » du sol au plafond.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palette mid-century : noyer, velours cognac et olive, laiton, crème.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Dehors, des assises basses sous une pergola, dont les chaises ÖVERALLT d’Issa Diabaté et Kevin Gouriou (IKEA).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858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49,2 m²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589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intérieur (profondeur estimée)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6858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≈ 50 m²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7589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terrasse proposée, 42 m² sous pergola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6858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9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7589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places en salle de réunion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8229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8961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places de travail (table, poteau) + abattants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8229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8961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fauteuils de lecture au salon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8229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8961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WC : un pour la salle louée, un public</a:t>
            </a:r>
            <a:endParaRPr lang="en-US" sz="1300" dirty="0"/>
          </a:p>
        </p:txBody>
      </p:sp>
      <p:pic>
        <p:nvPicPr>
          <p:cNvPr id="18" name="image R_P1_soir" descr="En entrant, le soi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1325880"/>
            <a:ext cx="6894576" cy="786384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680960" y="9281160"/>
            <a:ext cx="6894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En entrant, le soir. Rendu calculé depuis la maquette.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6_soir" descr="Le soir, depuis la ru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soir, depuis la rue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pergola s’allume : globes opalins, guirlande, salons bas. La façade vitrée laisse voir les livres.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1_soir" descr="On entr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On entre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seule grande porte. À droite, le mur de la collection ; au fond, le salon de lecture ; à gauche, la salle de réunion derrière ses baies vitrées.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5_soir" descr="L’accueil de Madam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L’accueil de Madame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meuble « Secrétaire » présente le livre du jour ; à la fermeture, son rideau à lattes cache le café.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2_soir" descr="Le salon de lectur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salon de lecture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Quatre fauteuils bas, des lampadaires en laiton, le plafond en lames de noyer et la lumière à 2 700 K.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4_soir" descr="La salle de réun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salle de réunion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Neuf places autour de la table « Pirogue » : une banquette de cinq places le long de la baie, quatre chaises en face (figurées par leur volume).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3_soir" descr="La terrasse du soi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terrasse du soir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salons sous la pergola, chaises ÖVERALLT et tabourets ; une musique douce pour la famille et les voisins.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3_jour" descr="La terrasse le jou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terrasse le jour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lames de la pergola dessinent l’ombre ; le dallage et le claustra en terre cuite restent frais.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lieu aujourd’hui</a:t>
            </a:r>
            <a:endParaRPr lang="en-US" sz="3400" dirty="0"/>
          </a:p>
        </p:txBody>
      </p:sp>
      <p:pic>
        <p:nvPicPr>
          <p:cNvPr id="3" name="image photo_facade" descr="La façade, le muret à grille et le parvis dallé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3383280" cy="25374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façade, le muret à grille et le parvis dallé.</a:t>
            </a:r>
            <a:endParaRPr lang="en-US" sz="1100" dirty="0"/>
          </a:p>
        </p:txBody>
      </p:sp>
      <p:pic>
        <p:nvPicPr>
          <p:cNvPr id="5" name="image photo_salle" descr="La grande salle : profonde, une seule baie haute au fon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3383280" cy="25374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grande salle : profonde, une seule baie haute au fond.</a:t>
            </a:r>
            <a:endParaRPr lang="en-US" sz="1100" dirty="0"/>
          </a:p>
        </p:txBody>
      </p:sp>
      <p:pic>
        <p:nvPicPr>
          <p:cNvPr id="7" name="image photo_bleue" descr="La pièce bleue, future salle de réunion, et son volume haut.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371600"/>
            <a:ext cx="3383280" cy="25374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68096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pièce bleue, future salle de réunion, et son volume haut.</a:t>
            </a:r>
            <a:endParaRPr lang="en-US" sz="1100" dirty="0"/>
          </a:p>
        </p:txBody>
      </p:sp>
      <p:pic>
        <p:nvPicPr>
          <p:cNvPr id="9" name="image photo_arbre" descr="Au-delà du muret : dallage, pelouse et grand arbre.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1371600"/>
            <a:ext cx="3383280" cy="253746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124712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Au-delà du muret : dallage, pelouse et grand arbre.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548640" y="4937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CE QUE L’EQUIPE RETIENT</a:t>
            </a:r>
            <a:endParaRPr lang="en-US" sz="1100" dirty="0"/>
          </a:p>
        </p:txBody>
      </p:sp>
      <p:sp>
        <p:nvSpPr>
          <p:cNvPr id="12" name="Text 6"/>
          <p:cNvSpPr txBox="1"/>
          <p:nvPr/>
        </p:nvSpPr>
        <p:spPr>
          <a:xfrm>
            <a:off x="548640" y="5349240"/>
            <a:ext cx="8412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rez-de-chaussée d’immeuble habité : les logements au-dessus imposent une musique douce le soir.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ancien local de restauration, aux réseaux vétustes (fils nus, appareillage en applique) : tout est refait.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bandes parallèles : 3,00 m à gauche, 3,60 m à droite, séparées par un mur et marquées par un poteau de 90 × 90 cm.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parvis de 2,75 m clos par un muret ; au-delà, un espace qui semble commun à la résidence.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9509760" y="49377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CE QUI RESTE A CONFIRMER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9509760" y="5349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profondeur totale (estimée à 7,60 m).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caractère porteur du mur à démolir.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statut de l’espace devant le muret.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hauteur sous plafond et les réseaux existants.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relevé et les cotes retenues</a:t>
            </a:r>
            <a:endParaRPr lang="en-US" sz="3400" dirty="0"/>
          </a:p>
        </p:txBody>
      </p:sp>
      <p:pic>
        <p:nvPicPr>
          <p:cNvPr id="3" name="image releve" descr="Croquis de relevé du 14 octob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206240" cy="60849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74748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Croquis de relevé du 14 octobre, tourné façade en bas.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371600"/>
          <a:ext cx="923544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2743200"/>
                <a:gridCol w="20116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ELEMENT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VALEUR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STATUT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Bande gauche (accueil, réunion, WC)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3,00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Grande salle (bibliothèque)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3,60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Mur de séparation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0,15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432C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Estimé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Largeur intérieure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6,75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Calculé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Façade → face avant du poteau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3,30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Poteau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0,90 × 0,90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Fond → bloc WC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2,40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Profondeur totale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7,60 m (7,20 à 8,00)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432C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Estimé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Parvis existant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2,75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Mesure prise sur la terrasse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5,50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432C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À rattacher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303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COMMENT LA PROFONDEUR A ETE ESTIMEE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303520" y="6903720"/>
            <a:ext cx="9235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Sur le croquis, le poteau à 3,30 m tombe à 46 % de la profondeur dessinée (≈ 7,2 m) et le bloc WC de 2,40 m en occupe 30 % (≈ 8,0 m). L’ancienne maquette V7 retenait 7,68 m. Les photos confirment une salle longue sans donner de cote fiable. L’esquisse retient 7,60 m, à mesurer au laser avant les plans d’exécution.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parti : le salon de Madame, un cocon mid-century</a:t>
            </a:r>
            <a:endParaRPr lang="en-US" sz="3400" dirty="0"/>
          </a:p>
        </p:txBody>
      </p:sp>
      <p:pic>
        <p:nvPicPr>
          <p:cNvPr id="3" name="image A1" descr="Croquis A1, le cocon mid-centu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8961120" cy="5760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715060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Croquis A1 de Dizzy : entrer dans le cocon. Dessin de principe généré par script (rôle IA).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96696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GESTE FONDATEUR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996696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« Et si l’on entrait dans la bibliothèque de Madame Nandjui comme on entre chez elle ? »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3383280"/>
            <a:ext cx="4572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intérieur années 50-70 : bois chaud, velours, laiton, lumière basse.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Tout est refait ; la peinture bleue disparaît.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mur entre la pièce bleue et la grande salle tombe : la salle de réunion se ferme en baies vitrées.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terrasse prolonge le salon : assises basses sous une pergola, pas de grande table.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7680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PALETTE</a:t>
            </a:r>
            <a:endParaRPr lang="en-US" sz="1100" dirty="0"/>
          </a:p>
        </p:txBody>
      </p:sp>
      <p:sp>
        <p:nvSpPr>
          <p:cNvPr id="9" name="teinte Noyer"/>
          <p:cNvSpPr/>
          <p:nvPr/>
        </p:nvSpPr>
        <p:spPr>
          <a:xfrm>
            <a:off x="548640" y="8138160"/>
            <a:ext cx="685800" cy="685800"/>
          </a:xfrm>
          <a:prstGeom prst="ellipse">
            <a:avLst/>
          </a:prstGeom>
          <a:solidFill>
            <a:srgbClr val="7A4A2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7160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Noyer</a:t>
            </a:r>
            <a:endParaRPr lang="en-US" sz="1200" dirty="0"/>
          </a:p>
        </p:txBody>
      </p:sp>
      <p:sp>
        <p:nvSpPr>
          <p:cNvPr id="11" name="teinte Velours cognac"/>
          <p:cNvSpPr/>
          <p:nvPr/>
        </p:nvSpPr>
        <p:spPr>
          <a:xfrm>
            <a:off x="2880360" y="8138160"/>
            <a:ext cx="685800" cy="685800"/>
          </a:xfrm>
          <a:prstGeom prst="ellipse">
            <a:avLst/>
          </a:prstGeom>
          <a:solidFill>
            <a:srgbClr val="A85F2C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0332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Velours cognac</a:t>
            </a:r>
            <a:endParaRPr lang="en-US" sz="1200" dirty="0"/>
          </a:p>
        </p:txBody>
      </p:sp>
      <p:sp>
        <p:nvSpPr>
          <p:cNvPr id="13" name="teinte Velours olive"/>
          <p:cNvSpPr/>
          <p:nvPr/>
        </p:nvSpPr>
        <p:spPr>
          <a:xfrm>
            <a:off x="5212080" y="8138160"/>
            <a:ext cx="685800" cy="685800"/>
          </a:xfrm>
          <a:prstGeom prst="ellipse">
            <a:avLst/>
          </a:prstGeom>
          <a:solidFill>
            <a:srgbClr val="56613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Velours olive</a:t>
            </a:r>
            <a:endParaRPr lang="en-US" sz="1200" dirty="0"/>
          </a:p>
        </p:txBody>
      </p:sp>
      <p:sp>
        <p:nvSpPr>
          <p:cNvPr id="15" name="teinte Moutarde"/>
          <p:cNvSpPr/>
          <p:nvPr/>
        </p:nvSpPr>
        <p:spPr>
          <a:xfrm>
            <a:off x="7543800" y="8138160"/>
            <a:ext cx="685800" cy="685800"/>
          </a:xfrm>
          <a:prstGeom prst="ellipse">
            <a:avLst/>
          </a:prstGeom>
          <a:solidFill>
            <a:srgbClr val="C9962E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6676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Moutarde</a:t>
            </a:r>
            <a:endParaRPr lang="en-US" sz="1200" dirty="0"/>
          </a:p>
        </p:txBody>
      </p:sp>
      <p:sp>
        <p:nvSpPr>
          <p:cNvPr id="17" name="teinte Laiton"/>
          <p:cNvSpPr/>
          <p:nvPr/>
        </p:nvSpPr>
        <p:spPr>
          <a:xfrm>
            <a:off x="9875520" y="8138160"/>
            <a:ext cx="685800" cy="685800"/>
          </a:xfrm>
          <a:prstGeom prst="ellipse">
            <a:avLst/>
          </a:prstGeom>
          <a:solidFill>
            <a:srgbClr val="C9A227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69848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Laiton</a:t>
            </a:r>
            <a:endParaRPr lang="en-US" sz="1200" dirty="0"/>
          </a:p>
        </p:txBody>
      </p:sp>
      <p:sp>
        <p:nvSpPr>
          <p:cNvPr id="19" name="teinte Crème"/>
          <p:cNvSpPr/>
          <p:nvPr/>
        </p:nvSpPr>
        <p:spPr>
          <a:xfrm>
            <a:off x="12207240" y="8138160"/>
            <a:ext cx="685800" cy="685800"/>
          </a:xfrm>
          <a:prstGeom prst="ellipse">
            <a:avLst/>
          </a:prstGeom>
          <a:solidFill>
            <a:srgbClr val="EFE4CC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03020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Crème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9144000"/>
            <a:ext cx="1399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Direction B « Sous le badamier » (modernisme tropical) étudiée et non retenue ; son claustra en dos de livres reste une option.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matériaux</a:t>
            </a:r>
            <a:endParaRPr lang="en-US" sz="3400" dirty="0"/>
          </a:p>
        </p:txBody>
      </p:sp>
      <p:pic>
        <p:nvPicPr>
          <p:cNvPr id="3" name="image S_MAT_Noyer" descr="Noy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25880"/>
            <a:ext cx="2148840" cy="2148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Noyer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meubles, plafond en lames</a:t>
            </a:r>
            <a:endParaRPr lang="en-US" sz="1200" dirty="0"/>
          </a:p>
        </p:txBody>
      </p:sp>
      <p:pic>
        <p:nvPicPr>
          <p:cNvPr id="6" name="image S_MAT_Noyer_clair" descr="Noyer clai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07792" y="1325880"/>
            <a:ext cx="2148840" cy="2148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07792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Noyer clair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2907792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tablettes, plateaux</a:t>
            </a:r>
            <a:endParaRPr lang="en-US" sz="1200" dirty="0"/>
          </a:p>
        </p:txBody>
      </p:sp>
      <p:pic>
        <p:nvPicPr>
          <p:cNvPr id="9" name="image S_MAT_Velours_cognac" descr="Velours cognac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266944" y="1325880"/>
            <a:ext cx="2148840" cy="21488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266944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Velours cognac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5266944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fauteuils, banquette</a:t>
            </a:r>
            <a:endParaRPr lang="en-US" sz="1200" dirty="0"/>
          </a:p>
        </p:txBody>
      </p:sp>
      <p:pic>
        <p:nvPicPr>
          <p:cNvPr id="12" name="image S_MAT_Velours_olive" descr="Velours oliv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626096" y="1325880"/>
            <a:ext cx="2148840" cy="2148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626096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Velours olive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7626096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fauteuils, rideaux</a:t>
            </a:r>
            <a:endParaRPr lang="en-US" sz="1200" dirty="0"/>
          </a:p>
        </p:txBody>
      </p:sp>
      <p:pic>
        <p:nvPicPr>
          <p:cNvPr id="15" name="image S_MAT_Moutarde" descr="Velours moutard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85248" y="1325880"/>
            <a:ext cx="2148840" cy="21488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985248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Velours moutarde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9985248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coussins, tabourets</a:t>
            </a:r>
            <a:endParaRPr lang="en-US" sz="1200" dirty="0"/>
          </a:p>
        </p:txBody>
      </p:sp>
      <p:pic>
        <p:nvPicPr>
          <p:cNvPr id="18" name="image S_MAT_Laiton" descr="Laiton brossé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2344400" y="1325880"/>
            <a:ext cx="2148840" cy="214884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2344400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Laiton brossé</a:t>
            </a:r>
            <a:endParaRPr lang="en-US" sz="1400" dirty="0"/>
          </a:p>
        </p:txBody>
      </p:sp>
      <p:sp>
        <p:nvSpPr>
          <p:cNvPr id="20" name="Text 12"/>
          <p:cNvSpPr txBox="1"/>
          <p:nvPr/>
        </p:nvSpPr>
        <p:spPr>
          <a:xfrm>
            <a:off x="12344400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filets, échelle, lampes</a:t>
            </a:r>
            <a:endParaRPr lang="en-US" sz="1200" dirty="0"/>
          </a:p>
        </p:txBody>
      </p:sp>
      <p:pic>
        <p:nvPicPr>
          <p:cNvPr id="21" name="image S_MAT_Sol_interieur" descr="Terrazzo crème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48640" y="5394960"/>
            <a:ext cx="2148840" cy="21488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48640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Terrazzo crème</a:t>
            </a:r>
            <a:endParaRPr lang="en-US" sz="14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sol intérieur</a:t>
            </a:r>
            <a:endParaRPr lang="en-US" sz="1200" dirty="0"/>
          </a:p>
        </p:txBody>
      </p:sp>
      <p:pic>
        <p:nvPicPr>
          <p:cNvPr id="24" name="image S_MAT_Cloison_neuve" descr="Enduit à la chaux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2907792" y="5394960"/>
            <a:ext cx="2148840" cy="214884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2907792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Enduit à la chaux</a:t>
            </a:r>
            <a:endParaRPr lang="en-US" sz="1400" dirty="0"/>
          </a:p>
        </p:txBody>
      </p:sp>
      <p:sp>
        <p:nvSpPr>
          <p:cNvPr id="26" name="Text 16"/>
          <p:cNvSpPr txBox="1"/>
          <p:nvPr/>
        </p:nvSpPr>
        <p:spPr>
          <a:xfrm>
            <a:off x="2907792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murs, ton sable</a:t>
            </a:r>
            <a:endParaRPr lang="en-US" sz="1200" dirty="0"/>
          </a:p>
        </p:txBody>
      </p:sp>
      <p:pic>
        <p:nvPicPr>
          <p:cNvPr id="27" name="image S_MAT_Claustra_terre_cuite" descr="Terre cuite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5266944" y="5394960"/>
            <a:ext cx="2148840" cy="214884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266944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Terre cuite</a:t>
            </a:r>
            <a:endParaRPr lang="en-US" sz="1400" dirty="0"/>
          </a:p>
        </p:txBody>
      </p:sp>
      <p:sp>
        <p:nvSpPr>
          <p:cNvPr id="29" name="Text 18"/>
          <p:cNvSpPr txBox="1"/>
          <p:nvPr/>
        </p:nvSpPr>
        <p:spPr>
          <a:xfrm>
            <a:off x="5266944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claustra, jardinières</a:t>
            </a:r>
            <a:endParaRPr lang="en-US" sz="1200" dirty="0"/>
          </a:p>
        </p:txBody>
      </p:sp>
      <p:pic>
        <p:nvPicPr>
          <p:cNvPr id="30" name="image S_MAT_Canne" descr="Cannage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7626096" y="5394960"/>
            <a:ext cx="2148840" cy="214884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626096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Cannage</a:t>
            </a:r>
            <a:endParaRPr lang="en-US" sz="1400" dirty="0"/>
          </a:p>
        </p:txBody>
      </p:sp>
      <p:sp>
        <p:nvSpPr>
          <p:cNvPr id="32" name="Text 20"/>
          <p:cNvSpPr txBox="1"/>
          <p:nvPr/>
        </p:nvSpPr>
        <p:spPr>
          <a:xfrm>
            <a:off x="7626096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dossiers, portes</a:t>
            </a:r>
            <a:endParaRPr lang="en-US" sz="1200" dirty="0"/>
          </a:p>
        </p:txBody>
      </p:sp>
      <p:pic>
        <p:nvPicPr>
          <p:cNvPr id="33" name="image S_MAT_Contreplaque" descr="Contreplaqué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985248" y="5394960"/>
            <a:ext cx="2148840" cy="214884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9985248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Contreplaqué</a:t>
            </a:r>
            <a:endParaRPr lang="en-US" sz="1400" dirty="0"/>
          </a:p>
        </p:txBody>
      </p:sp>
      <p:sp>
        <p:nvSpPr>
          <p:cNvPr id="35" name="Text 22"/>
          <p:cNvSpPr txBox="1"/>
          <p:nvPr/>
        </p:nvSpPr>
        <p:spPr>
          <a:xfrm>
            <a:off x="9985248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chaises ÖVERALLT</a:t>
            </a:r>
            <a:endParaRPr lang="en-US" sz="1200" dirty="0"/>
          </a:p>
        </p:txBody>
      </p:sp>
      <p:pic>
        <p:nvPicPr>
          <p:cNvPr id="36" name="image S_MAT_Acier_noir" descr="Acier noi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2344400" y="5394960"/>
            <a:ext cx="2148840" cy="214884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12344400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Acier noir</a:t>
            </a:r>
            <a:endParaRPr lang="en-US" sz="1400" dirty="0"/>
          </a:p>
        </p:txBody>
      </p:sp>
      <p:sp>
        <p:nvSpPr>
          <p:cNvPr id="38" name="Text 24"/>
          <p:cNvSpPr txBox="1"/>
          <p:nvPr/>
        </p:nvSpPr>
        <p:spPr>
          <a:xfrm>
            <a:off x="12344400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pergola, piètements</a:t>
            </a:r>
            <a:endParaRPr lang="en-US" sz="1200" dirty="0"/>
          </a:p>
        </p:txBody>
      </p:sp>
      <p:sp>
        <p:nvSpPr>
          <p:cNvPr id="39" name="Text 25"/>
          <p:cNvSpPr txBox="1"/>
          <p:nvPr/>
        </p:nvSpPr>
        <p:spPr>
          <a:xfrm>
            <a:off x="548640" y="9418320"/>
            <a:ext cx="1399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Échantillons rendus à partir des matériaux de la maquette. Teintes à confirmer sur échantillons réels chez l’ébéniste et le tapissier.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H_PLAN_jour" descr="Plan rend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6895673" cy="101406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78240" y="8229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400" b="1" dirty="0">
                <a:solidFill>
                  <a:srgbClr val="231C1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plan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8778240" y="18288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Coupé à 1,30 m, au soleil de l’après-midi : le mobilier, les tapis et l’ombre des lames de la pergola sur la terrasse.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778240" y="3200400"/>
            <a:ext cx="5669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Accueil-café ouvert à gauche, face aux livres.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Salle de réunion vitrée de 8,4 m², 9 places, avec son WC.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Bibliothèque « Kente » sur trois murs, table d’hôtes et « Arbre à travail » au poteau.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Salon de lecture au fond : quatre fauteuils, lampadaires.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Terrasse d’environ 50 m², dont 42 m² sous pergola : deux salons bas.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78240" y="93268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IFC, avec habillage graphique (étiquettes, ombres, échelle). Coupes A et B : pages suivantes ; orientation à confirmer.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H_COUPE_AA_soir" descr="Coupe A, le so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14575536" cy="72877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089136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231C1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Coupe A, le soir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6217920" y="9226296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Longitudinale, vers l’ouest : la terrasse sous la pergola, l’accueil, la salle de réunion vitrée et les WC, sous les logements existants.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H_COUPE_BB_jour" descr="Coupe B, le jo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708" y="274320"/>
            <a:ext cx="14462760" cy="867765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089136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231C1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Coupe B, le jour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6217920" y="9226296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Transversale, vers le nord : la salle de réunion derrière ses baies vitrées et la bibliothèque, plafond en lames de noyer à 3,00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H_COUPE_AA_jour" descr="Coupe A, le jo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14575536" cy="72877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089136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231C1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Coupe A, le jour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6217920" y="9226296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Longitudinale, vers l’ouest.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Plan d’aménagement</a:t>
            </a:r>
            <a:endParaRPr lang="en-US" sz="3400" dirty="0"/>
          </a:p>
        </p:txBody>
      </p:sp>
      <p:pic>
        <p:nvPicPr>
          <p:cNvPr id="3" name="image E01" descr="Plan d’aménagement E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652000" cy="8686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247120" y="1325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RETENIR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1737360"/>
            <a:ext cx="3337560" cy="786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seule grande porte de 1,60 m ; l’ancienne porte devient vitrine.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Accueil ouvert à gauche, meuble « Secrétaire » face aux livres.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Salle de réunion de 8,4 m², 9 places, table « Pirogue ».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WC au nord : l’un ouvre sur la salle louée, l’autre sur la bibliothèque.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Bibliothèque « Kente » sur trois murs, échelle laiton.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Table d’hôtes, « Arbre à travail » au poteau, salon de lecture au fond.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Terrasse prolongée, pergola, chaises ÖVERALLT.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volume, coupé à 2,60 m</a:t>
            </a:r>
            <a:endParaRPr lang="en-US" sz="3400" dirty="0"/>
          </a:p>
        </p:txBody>
      </p:sp>
      <p:pic>
        <p:nvPicPr>
          <p:cNvPr id="3" name="image V01" descr="Axonométrie coup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207" y="1188720"/>
            <a:ext cx="13079186" cy="813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4207" y="9436608"/>
            <a:ext cx="1307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Axonométrie calculée depuis la maquette IFC4. Le mur à démolir apparaît en orange transparent. Rendu de contrôle, sans textures.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terrasse-salon sous pergola</a:t>
            </a:r>
            <a:endParaRPr lang="en-US" sz="3400" dirty="0"/>
          </a:p>
        </p:txBody>
      </p:sp>
      <p:pic>
        <p:nvPicPr>
          <p:cNvPr id="3" name="image A2" descr="Croquis A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949440" cy="4467497"/>
          </a:xfrm>
          <a:prstGeom prst="rect">
            <a:avLst/>
          </a:prstGeom>
        </p:spPr>
      </p:pic>
      <p:pic>
        <p:nvPicPr>
          <p:cNvPr id="4" name="image V02" descr="Axonométrie depuis la terras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188720"/>
            <a:ext cx="6766560" cy="42103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772400" y="5508752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Croquis A2 de Dizzy (dessin de principe généré par script, rôle IA) et vue calculée depuis la maquette.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00800"/>
            <a:ext cx="1399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Terrasse prolongée d’environ 2,65 m au-delà du muret actuel, close par un claustra bas, des jardinières et un portillon.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Pergola en acier noir et lames de bois sur chant ; globes opalins pour une lumière tamisée.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salons : banquettes en L, tables basses, chaises ÖVERALLT d’Issa Diabaté et Kevin Gouriou, et tabourets.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lames ajourées ne protègent pas de la pluie : une couverture translucide est à décider.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L’emprise au-delà du muret doit être autorisée par écrit avant tout chiffrage.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mobilier : douze modèles au choix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399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 chaque meuble, trois modèles sont dessinés. L’équipe en recommande un, mais tous sont réalisables à Abidjan par un ébéniste, un tapissier et un métallier : Madame Nandjui choisit, et peut combiner des idées d’un modèle à l’autre.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bibliothèque</a:t>
            </a:r>
            <a:endParaRPr lang="en-US" sz="1500" dirty="0"/>
          </a:p>
        </p:txBody>
      </p:sp>
      <p:pic>
        <p:nvPicPr>
          <p:cNvPr id="5" name="image S_VAR_V1_A" descr="A · « Kent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474720" y="2468880"/>
            <a:ext cx="1828800" cy="1371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94960" y="2880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Kente »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3291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recommandé</a:t>
            </a:r>
            <a:endParaRPr lang="en-US" sz="1000" dirty="0"/>
          </a:p>
        </p:txBody>
      </p:sp>
      <p:pic>
        <p:nvPicPr>
          <p:cNvPr id="8" name="image S_VAR_V1_B" descr="B · « Claustra »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78040" y="2468880"/>
            <a:ext cx="182880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2880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Claustra »</a:t>
            </a:r>
            <a:endParaRPr lang="en-US" sz="1200" dirty="0"/>
          </a:p>
        </p:txBody>
      </p:sp>
      <p:pic>
        <p:nvPicPr>
          <p:cNvPr id="10" name="image S_VAR_V1_C" descr="C · « Lutrin »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881360" y="2468880"/>
            <a:ext cx="1828800" cy="1371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0" y="2880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Lutrin »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4800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meuble d’accueil</a:t>
            </a:r>
            <a:endParaRPr lang="en-US" sz="1500" dirty="0"/>
          </a:p>
        </p:txBody>
      </p:sp>
      <p:pic>
        <p:nvPicPr>
          <p:cNvPr id="13" name="image S_VAR_V2_A" descr="A · « Enfilade »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474720" y="4251960"/>
            <a:ext cx="1828800" cy="13716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9496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Enfilade »</a:t>
            </a:r>
            <a:endParaRPr lang="en-US" sz="1200" dirty="0"/>
          </a:p>
        </p:txBody>
      </p:sp>
      <p:pic>
        <p:nvPicPr>
          <p:cNvPr id="15" name="image S_VAR_V2_B" descr="B · « Secrétaire »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178040" y="4251960"/>
            <a:ext cx="1828800" cy="13716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09828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Secrétaire »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909828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recommandé</a:t>
            </a:r>
            <a:endParaRPr lang="en-US" sz="1000" dirty="0"/>
          </a:p>
        </p:txBody>
      </p:sp>
      <p:pic>
        <p:nvPicPr>
          <p:cNvPr id="18" name="image S_VAR_V2_C" descr="C · « Comptoir-bibliothèque »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881360" y="4251960"/>
            <a:ext cx="1828800" cy="13716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280160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Comptoir-bibliothèque »</a:t>
            </a:r>
            <a:endParaRPr lang="en-US" sz="1200" dirty="0"/>
          </a:p>
        </p:txBody>
      </p:sp>
      <p:sp>
        <p:nvSpPr>
          <p:cNvPr id="20" name="Text 12"/>
          <p:cNvSpPr txBox="1"/>
          <p:nvPr/>
        </p:nvSpPr>
        <p:spPr>
          <a:xfrm>
            <a:off x="548640" y="6583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table de réunion</a:t>
            </a:r>
            <a:endParaRPr lang="en-US" sz="1500" dirty="0"/>
          </a:p>
        </p:txBody>
      </p:sp>
      <p:pic>
        <p:nvPicPr>
          <p:cNvPr id="21" name="image S_VAR_V3_A" descr="A · « Compas »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474720" y="6035040"/>
            <a:ext cx="1828800" cy="13716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94960" y="6446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Compas »</a:t>
            </a:r>
            <a:endParaRPr lang="en-US" sz="1200" dirty="0"/>
          </a:p>
        </p:txBody>
      </p:sp>
      <p:pic>
        <p:nvPicPr>
          <p:cNvPr id="23" name="image S_VAR_V3_B" descr="B · « Pirogue »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178040" y="6035040"/>
            <a:ext cx="1828800" cy="137160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098280" y="6446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Pirogue »</a:t>
            </a:r>
            <a:endParaRPr lang="en-US" sz="1200" dirty="0"/>
          </a:p>
        </p:txBody>
      </p:sp>
      <p:sp>
        <p:nvSpPr>
          <p:cNvPr id="25" name="Text 15"/>
          <p:cNvSpPr txBox="1"/>
          <p:nvPr/>
        </p:nvSpPr>
        <p:spPr>
          <a:xfrm>
            <a:off x="9098280" y="6858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recommandé</a:t>
            </a:r>
            <a:endParaRPr lang="en-US" sz="1000" dirty="0"/>
          </a:p>
        </p:txBody>
      </p:sp>
      <p:pic>
        <p:nvPicPr>
          <p:cNvPr id="26" name="image S_VAR_V3_C" descr="C · « Tréteaux »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881360" y="6035040"/>
            <a:ext cx="1828800" cy="1371600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12801600" y="6446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Tréteaux »</a:t>
            </a:r>
            <a:endParaRPr lang="en-US" sz="1200" dirty="0"/>
          </a:p>
        </p:txBody>
      </p:sp>
      <p:sp>
        <p:nvSpPr>
          <p:cNvPr id="28" name="Text 17"/>
          <p:cNvSpPr txBox="1"/>
          <p:nvPr/>
        </p:nvSpPr>
        <p:spPr>
          <a:xfrm>
            <a:off x="548640" y="8366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postes de travail</a:t>
            </a:r>
            <a:endParaRPr lang="en-US" sz="1500" dirty="0"/>
          </a:p>
        </p:txBody>
      </p:sp>
      <p:pic>
        <p:nvPicPr>
          <p:cNvPr id="29" name="image S_VAR_V4_A" descr="A · « Arbre à travail »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474720" y="7818120"/>
            <a:ext cx="1828800" cy="1371600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5394960" y="8229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Arbre à travail »</a:t>
            </a:r>
            <a:endParaRPr lang="en-US" sz="1200" dirty="0"/>
          </a:p>
        </p:txBody>
      </p:sp>
      <p:sp>
        <p:nvSpPr>
          <p:cNvPr id="31" name="Text 19"/>
          <p:cNvSpPr txBox="1"/>
          <p:nvPr/>
        </p:nvSpPr>
        <p:spPr>
          <a:xfrm>
            <a:off x="5394960" y="8641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recommandé</a:t>
            </a:r>
            <a:endParaRPr lang="en-US" sz="1000" dirty="0"/>
          </a:p>
        </p:txBody>
      </p:sp>
      <p:pic>
        <p:nvPicPr>
          <p:cNvPr id="32" name="image S_VAR_V4_B" descr="B · « Bureau à oreilles »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7178040" y="7818120"/>
            <a:ext cx="1828800" cy="1371600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9098280" y="8229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Bureau à oreilles »</a:t>
            </a:r>
            <a:endParaRPr lang="en-US" sz="1200" dirty="0"/>
          </a:p>
        </p:txBody>
      </p:sp>
      <p:pic>
        <p:nvPicPr>
          <p:cNvPr id="34" name="image S_VAR_V4_C" descr="C · « Abattant »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881360" y="7818120"/>
            <a:ext cx="1828800" cy="1371600"/>
          </a:xfrm>
          <a:prstGeom prst="rect">
            <a:avLst/>
          </a:prstGeom>
        </p:spPr>
      </p:pic>
      <p:sp>
        <p:nvSpPr>
          <p:cNvPr id="35" name="Text 21"/>
          <p:cNvSpPr txBox="1"/>
          <p:nvPr/>
        </p:nvSpPr>
        <p:spPr>
          <a:xfrm>
            <a:off x="12801600" y="8229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Abattant »</a:t>
            </a:r>
            <a:endParaRPr lang="en-US" sz="1200" dirty="0"/>
          </a:p>
        </p:txBody>
      </p:sp>
      <p:sp>
        <p:nvSpPr>
          <p:cNvPr id="36" name="Text 22"/>
          <p:cNvSpPr txBox="1"/>
          <p:nvPr/>
        </p:nvSpPr>
        <p:spPr>
          <a:xfrm>
            <a:off x="12801600" y="8641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bibliothèque : trois propositions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399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mur fait environ 9 m de long sur 2,90 m de haut. Il porte toute la collection de Madame : c’est la pièce maîtresse du lieu.</a:t>
            </a:r>
            <a:endParaRPr lang="en-US" sz="1400" dirty="0"/>
          </a:p>
        </p:txBody>
      </p:sp>
      <p:pic>
        <p:nvPicPr>
          <p:cNvPr id="4" name="image S_VAR_V1_A" descr="A · « Kent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57400"/>
            <a:ext cx="4526280" cy="3429000"/>
          </a:xfrm>
          <a:prstGeom prst="rect">
            <a:avLst/>
          </a:prstGeom>
        </p:spPr>
      </p:pic>
      <p:sp>
        <p:nvSpPr>
          <p:cNvPr id="5" name="recommandé"/>
          <p:cNvSpPr/>
          <p:nvPr/>
        </p:nvSpPr>
        <p:spPr>
          <a:xfrm>
            <a:off x="685800" y="2194560"/>
            <a:ext cx="1463040" cy="329184"/>
          </a:xfrm>
          <a:prstGeom prst="roundRect">
            <a:avLst>
              <a:gd name="adj" fmla="val 16667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22585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Kente 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tablettes se décalent d’un module à l’autre et les fonds alternent crème, moutarde, olive et cognac. Le mur se lit comme une bande de pagne tissé, sans une seule courbe à fabriquer. Une échelle en laiton court sur un rail pour atteindre le haut.</a:t>
            </a:r>
            <a:endParaRPr lang="en-US" sz="1200" dirty="0"/>
          </a:p>
        </p:txBody>
      </p:sp>
      <p:pic>
        <p:nvPicPr>
          <p:cNvPr id="9" name="image S_VAR_V1_B" descr="B · « Claustra »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03520" y="2057400"/>
            <a:ext cx="452628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0352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Claustra »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30352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grille de casiers de 0,40 m, dont certaines cases sont fermées par du cannage ou un claustra en terre cuite. L’esprit du modernisme tropical d’Abidjan.</a:t>
            </a:r>
            <a:endParaRPr lang="en-US" sz="1200" dirty="0"/>
          </a:p>
        </p:txBody>
      </p:sp>
      <p:pic>
        <p:nvPicPr>
          <p:cNvPr id="12" name="image S_VAR_V1_C" descr="C · « Lutrin »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58400" y="2057400"/>
            <a:ext cx="4526280" cy="3429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5840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Lutrin 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rayonnage continu, avec un bandeau incliné à hauteur des yeux qui présente les livres de face, comme chez un libraire, et des niches vitrées au-dessus.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8686800"/>
            <a:ext cx="1399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l’équipe : « Kente », la seule qui donne une identité forte au mur tout en restant faite de modules droits. Elle y ajoute les niches-vitrines pour les livres rares et le bandeau-lutrin de C sur un module près de l’entrée.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bibliothèque, modèle A « Kente »</a:t>
            </a:r>
            <a:endParaRPr lang="en-US" sz="3400" dirty="0"/>
          </a:p>
        </p:txBody>
      </p:sp>
      <p:pic>
        <p:nvPicPr>
          <p:cNvPr id="3" name="image S_VAR_V1_A" descr="« Kent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1_A" descr="Axonométrie « Kent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recommandé"/>
          <p:cNvSpPr/>
          <p:nvPr/>
        </p:nvSpPr>
        <p:spPr>
          <a:xfrm>
            <a:off x="9966960" y="132588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966960" y="14081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 PAR L’EQUIPE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tablettes se décalent d’un module à l’autre et les fonds alternent crème, moutarde, olive et cognac. Le mur se lit comme une bande de pagne tissé, sans une seule courbe à fabriquer. Une échelle en laiton court sur un rail pour atteindre le haut.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Original et propre au lieu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Modules droits, fabrication en série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Échelle utile à 2,90 m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Fonds peints à entretenir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Hauteurs de livres limitées par case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bibliothèque, modèle B « Claustra »</a:t>
            </a:r>
            <a:endParaRPr lang="en-US" sz="3400" dirty="0"/>
          </a:p>
        </p:txBody>
      </p:sp>
      <p:pic>
        <p:nvPicPr>
          <p:cNvPr id="3" name="image S_VAR_V1_B" descr="« Claustra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1_B" descr="Axonométrie « Claustra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grille de casiers de 0,40 m, dont certaines cases sont fermées par du cannage ou un claustra en terre cuite. L’esprit du modernisme tropical d’Abidjan.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Très graphique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Cases fermées pour le rangement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Cases de 0,40 m trop basses pour les grands livres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Beaucoup d’assemblages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bibliothèque, modèle C « Lutrin »</a:t>
            </a:r>
            <a:endParaRPr lang="en-US" sz="3400" dirty="0"/>
          </a:p>
        </p:txBody>
      </p:sp>
      <p:pic>
        <p:nvPicPr>
          <p:cNvPr id="3" name="image S_VAR_V1_C" descr="« Lutrin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1_C" descr="Axonométrie « Lutrin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rayonnage continu, avec un bandeau incliné à hauteur des yeux qui présente les livres de face, comme chez un libraire, et des niches vitrées au-dessus.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Met en valeur les livres coups de cœur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Simple à lire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Plus classique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bandeau mange une rangée de livres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modèle recommandé en détail : la bibliothèque</a:t>
            </a:r>
            <a:endParaRPr lang="en-US" sz="3400" dirty="0"/>
          </a:p>
        </p:txBody>
      </p:sp>
      <p:pic>
        <p:nvPicPr>
          <p:cNvPr id="3" name="image M02_bibliotheque_kente" descr="Fiche La bibliothè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7778" y="1188720"/>
            <a:ext cx="12012044" cy="813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9464040"/>
            <a:ext cx="1399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l’équipe : « Kente », la seule qui donne une identité forte au mur tout en restant faite de modules droits. Elle y ajoute les niches-vitrines pour les livres rares et le bandeau-lutrin de C sur un module près de l’entrée.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meuble d’accueil : trois propositions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399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Madame y travaille assise, dos au mur, face aux livres. Le meuble doit accueillir, servir le café et se fermer proprement le soir.</a:t>
            </a:r>
            <a:endParaRPr lang="en-US" sz="1400" dirty="0"/>
          </a:p>
        </p:txBody>
      </p:sp>
      <p:pic>
        <p:nvPicPr>
          <p:cNvPr id="4" name="image S_VAR_V2_A" descr="A · « Enfilad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57400"/>
            <a:ext cx="452628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Enfilade »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L’enfilade mid-century en noyer sur pieds fuselés, façade cannelée et repose-pieds en laiton (fiche M01 d’origine).</a:t>
            </a:r>
            <a:endParaRPr lang="en-US" sz="1200" dirty="0"/>
          </a:p>
        </p:txBody>
      </p:sp>
      <p:pic>
        <p:nvPicPr>
          <p:cNvPr id="7" name="image S_VAR_V2_B" descr="B · « Secrétaire »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03520" y="2057400"/>
            <a:ext cx="4526280" cy="3429000"/>
          </a:xfrm>
          <a:prstGeom prst="rect">
            <a:avLst/>
          </a:prstGeom>
        </p:spPr>
      </p:pic>
      <p:sp>
        <p:nvSpPr>
          <p:cNvPr id="8" name="recommandé"/>
          <p:cNvSpPr/>
          <p:nvPr/>
        </p:nvSpPr>
        <p:spPr>
          <a:xfrm>
            <a:off x="5440680" y="2194560"/>
            <a:ext cx="1463040" cy="329184"/>
          </a:xfrm>
          <a:prstGeom prst="roundRect">
            <a:avLst>
              <a:gd name="adj" fmla="val 16667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40680" y="22585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Secrétaire »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30352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L’enfilade gagne un gradin où Madame expose « le livre du jour », et un cabinet à rideau à lattes, comme un secrétaire des années 60, qui cache la machine à café à la fermeture.</a:t>
            </a:r>
            <a:endParaRPr lang="en-US" sz="1200" dirty="0"/>
          </a:p>
        </p:txBody>
      </p:sp>
      <p:pic>
        <p:nvPicPr>
          <p:cNvPr id="12" name="image S_VAR_V2_C" descr="C · « Comptoir-bibliothèque »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58400" y="2057400"/>
            <a:ext cx="4526280" cy="3429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5840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Comptoir-bibliothèque 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comptoir en L dont la façade côté clients est une bibliothèque ouverte : les livres commencent dès l’accueil.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8686800"/>
            <a:ext cx="1399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l’équipe : « Secrétaire », qui reste un meuble de famille, il présente un livre à chaque visiteur et il transforme le café en salon à la fermeture.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meuble d’accueil, modèle A « Enfilade »</a:t>
            </a:r>
            <a:endParaRPr lang="en-US" sz="3400" dirty="0"/>
          </a:p>
        </p:txBody>
      </p:sp>
      <p:pic>
        <p:nvPicPr>
          <p:cNvPr id="3" name="image S_VAR_V2_A" descr="« Enfilad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2_A" descr="Axonométrie « Enfilad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L’enfilade mid-century en noyer sur pieds fuselés, façade cannelée et repose-pieds en laiton (fiche M01 d’origine).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Élégant, simple à fabriquer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machines restent visibles le soir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meuble d’accueil, modèle B « Secrétaire »</a:t>
            </a:r>
            <a:endParaRPr lang="en-US" sz="3400" dirty="0"/>
          </a:p>
        </p:txBody>
      </p:sp>
      <p:pic>
        <p:nvPicPr>
          <p:cNvPr id="3" name="image S_VAR_V2_B" descr="« Secrétair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2_B" descr="Axonométrie « Secrétair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recommandé"/>
          <p:cNvSpPr/>
          <p:nvPr/>
        </p:nvSpPr>
        <p:spPr>
          <a:xfrm>
            <a:off x="9966960" y="132588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966960" y="14081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 PAR L’EQUIPE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L’enfilade gagne un gradin où Madame expose « le livre du jour », et un cabinet à rideau à lattes, comme un secrétaire des années 60, qui cache la machine à café à la fermeture.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Raconte la bibliothèque dès l’entrée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 ferme le soir : le lieu reste un salon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Rideau à lattes : savoir-faire d’ébéniste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Rideau à lattes à soigner (guidage)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meuble d’accueil, modèle C « Comptoir-bibliothèque »</a:t>
            </a:r>
            <a:endParaRPr lang="en-US" sz="3400" dirty="0"/>
          </a:p>
        </p:txBody>
      </p:sp>
      <p:pic>
        <p:nvPicPr>
          <p:cNvPr id="3" name="image S_VAR_V2_C" descr="« Comptoir-bibliothèqu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2_C" descr="Axonométrie « Comptoir-bibliothèqu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comptoir en L dont la façade côté clients est une bibliothèque ouverte : les livres commencent dès l’accueil.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Continuité avec le mur de la collection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Livres exposés aux éclaboussures du café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Plus encombrant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modèle recommandé en détail : le meuble d’accueil</a:t>
            </a:r>
            <a:endParaRPr lang="en-US" sz="3400" dirty="0"/>
          </a:p>
        </p:txBody>
      </p:sp>
      <p:pic>
        <p:nvPicPr>
          <p:cNvPr id="3" name="image M01_accueil_secretaire" descr="Fiche Le meuble d’accu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0514" y="1188720"/>
            <a:ext cx="11826572" cy="813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9464040"/>
            <a:ext cx="1399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l’équipe : « Secrétaire », qui reste un meuble de famille, il présente un livre à chaque visiteur et il transforme le café en salon à la fermeture.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table de réunion : trois propositions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399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salle mesure 3,00 × 2,80 m. La table fait 2,50 × 0,80 m, face à une banquette de 5 places et à 4 chaises.</a:t>
            </a:r>
            <a:endParaRPr lang="en-US" sz="1400" dirty="0"/>
          </a:p>
        </p:txBody>
      </p:sp>
      <p:pic>
        <p:nvPicPr>
          <p:cNvPr id="4" name="image S_VAR_V3_A" descr="A · « Compas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57400"/>
            <a:ext cx="452628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Compas »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Plateau noyer sur deux piètements en V, inspirés des meubles de Chandigarh.</a:t>
            </a:r>
            <a:endParaRPr lang="en-US" sz="1200" dirty="0"/>
          </a:p>
        </p:txBody>
      </p:sp>
      <p:pic>
        <p:nvPicPr>
          <p:cNvPr id="7" name="image S_VAR_V3_B" descr="B · « Pirogue »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03520" y="2057400"/>
            <a:ext cx="4526280" cy="3429000"/>
          </a:xfrm>
          <a:prstGeom prst="rect">
            <a:avLst/>
          </a:prstGeom>
        </p:spPr>
      </p:pic>
      <p:sp>
        <p:nvSpPr>
          <p:cNvPr id="8" name="recommandé"/>
          <p:cNvSpPr/>
          <p:nvPr/>
        </p:nvSpPr>
        <p:spPr>
          <a:xfrm>
            <a:off x="5440680" y="2194560"/>
            <a:ext cx="1463040" cy="329184"/>
          </a:xfrm>
          <a:prstGeom prst="roundRect">
            <a:avLst>
              <a:gd name="adj" fmla="val 16667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40680" y="22585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Pirogue »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30352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extrémités du plateau s’effilent comme une pirogue de la lagune Ébrié. Un filet de laiton court au centre et cache la jonction : la table se divise en deux pour des ateliers. Pieds-lames en retrait, goulotte à câbles en laiton sous le plateau.</a:t>
            </a:r>
            <a:endParaRPr lang="en-US" sz="1200" dirty="0"/>
          </a:p>
        </p:txBody>
      </p:sp>
      <p:pic>
        <p:nvPicPr>
          <p:cNvPr id="12" name="image S_VAR_V3_C" descr="C · « Tréteaux »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58400" y="2057400"/>
            <a:ext cx="4526280" cy="3429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5840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Tréteaux 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tables de 1,25 m sur tréteaux en acier, à assembler en long, en T ou en salle de classe.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8686800"/>
            <a:ext cx="1399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l’équipe : « Pirogue », une table signature, qui se divise quand même en deux pour les ateliers de location, et qui garde les 9 places.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table de réunion, modèle A « Compas »</a:t>
            </a:r>
            <a:endParaRPr lang="en-US" sz="3400" dirty="0"/>
          </a:p>
        </p:txBody>
      </p:sp>
      <p:pic>
        <p:nvPicPr>
          <p:cNvPr id="3" name="image S_VAR_V3_A" descr="« Compas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3_A" descr="Axonométrie « Compas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Plateau noyer sur deux piètements en V, inspirés des meubles de Chandigarh.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Léger, classique mid-century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pieds en V gênent les genoux aux extrémités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table de réunion, modèle B « Pirogue »</a:t>
            </a:r>
            <a:endParaRPr lang="en-US" sz="3400" dirty="0"/>
          </a:p>
        </p:txBody>
      </p:sp>
      <p:pic>
        <p:nvPicPr>
          <p:cNvPr id="3" name="image S_VAR_V3_B" descr="« Pirogu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3_B" descr="Axonométrie « Pirogu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recommandé"/>
          <p:cNvSpPr/>
          <p:nvPr/>
        </p:nvSpPr>
        <p:spPr>
          <a:xfrm>
            <a:off x="9966960" y="132588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966960" y="14081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 PAR L’EQUIPE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extrémités du plateau s’effilent comme une pirogue de la lagune Ébrié. Un filet de laiton court au centre et cache la jonction : la table se divise en deux pour des ateliers. Pieds-lames en retrait, goulotte à câbles en laiton sous le plateau.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Histoire locale, forme mémorable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Divisible pour la location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Câbles cachés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Extrémités effilées : pas de place en bout de table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table de réunion, modèle C « Tréteaux »</a:t>
            </a:r>
            <a:endParaRPr lang="en-US" sz="3400" dirty="0"/>
          </a:p>
        </p:txBody>
      </p:sp>
      <p:pic>
        <p:nvPicPr>
          <p:cNvPr id="3" name="image S_VAR_V3_C" descr="« Tréteaux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3_C" descr="Axonométrie « Tréteaux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tables de 1,25 m sur tréteaux en acier, à assembler en long, en T ou en salle de classe.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plus modulable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Économique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Moins de caractère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Aspect provisoire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modèle recommandé en détail : la table de réunion</a:t>
            </a:r>
            <a:endParaRPr lang="en-US" sz="3400" dirty="0"/>
          </a:p>
        </p:txBody>
      </p:sp>
      <p:pic>
        <p:nvPicPr>
          <p:cNvPr id="3" name="image M03_banquette_table_pirogue" descr="Fiche La table de réun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839" y="1188720"/>
            <a:ext cx="11989923" cy="813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9464040"/>
            <a:ext cx="1399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l’équipe : « Pirogue », une table signature, qui se divise quand même en deux pour les ateliers de location, et qui garde les 9 places.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postes de travail : trois propositions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399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postes sont prévus contre le poteau de 0,90 × 0,90 m. Le lieu doit pouvoir en offrir d’autres les jours d’affluence.</a:t>
            </a:r>
            <a:endParaRPr lang="en-US" sz="1400" dirty="0"/>
          </a:p>
        </p:txBody>
      </p:sp>
      <p:pic>
        <p:nvPicPr>
          <p:cNvPr id="4" name="image S_VAR_V4_A" descr="A · « Arbre à travail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57400"/>
            <a:ext cx="4526280" cy="3429000"/>
          </a:xfrm>
          <a:prstGeom prst="rect">
            <a:avLst/>
          </a:prstGeom>
        </p:spPr>
      </p:pic>
      <p:sp>
        <p:nvSpPr>
          <p:cNvPr id="5" name="recommandé"/>
          <p:cNvSpPr/>
          <p:nvPr/>
        </p:nvSpPr>
        <p:spPr>
          <a:xfrm>
            <a:off x="685800" y="2194560"/>
            <a:ext cx="1463040" cy="329184"/>
          </a:xfrm>
          <a:prstGeom prst="roundRect">
            <a:avLst>
              <a:gd name="adj" fmla="val 16667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22585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Arbre à travail 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poteau est habillé de lattes de noyer et devient un meuble : tablette pour deux, séparateur en feutre, étagère et deux lampes en laiton. On transforme une contrainte en pièce signature.</a:t>
            </a:r>
            <a:endParaRPr lang="en-US" sz="1200" dirty="0"/>
          </a:p>
        </p:txBody>
      </p:sp>
      <p:pic>
        <p:nvPicPr>
          <p:cNvPr id="9" name="image S_VAR_V4_B" descr="B · « Bureau à oreilles »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03520" y="2057400"/>
            <a:ext cx="452628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0352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Bureau à oreilles »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30352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petit bureau de 0,90 × 0,55 m avec des joues en feutre qui isolent du bruit, une étagère et une lampe.</a:t>
            </a:r>
            <a:endParaRPr lang="en-US" sz="1200" dirty="0"/>
          </a:p>
        </p:txBody>
      </p:sp>
      <p:pic>
        <p:nvPicPr>
          <p:cNvPr id="12" name="image S_VAR_V4_C" descr="C · « Abattant »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58400" y="2057400"/>
            <a:ext cx="4526280" cy="3429000"/>
          </a:xfrm>
          <a:prstGeom prst="rect">
            <a:avLst/>
          </a:prstGeom>
        </p:spPr>
      </p:pic>
      <p:sp>
        <p:nvSpPr>
          <p:cNvPr id="13" name="recommandé"/>
          <p:cNvSpPr/>
          <p:nvPr/>
        </p:nvSpPr>
        <p:spPr>
          <a:xfrm>
            <a:off x="10195560" y="2194560"/>
            <a:ext cx="2011680" cy="329184"/>
          </a:xfrm>
          <a:prstGeom prst="roundRect">
            <a:avLst>
              <a:gd name="adj" fmla="val 16667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195560" y="22585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EN COMPLEMENT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1005840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Abattant »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1005840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Certains modules du mur de la collection cachent un abattant : on l’ouvre, on s’assoit, on travaille au milieu des livres ; on le referme le soir.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8686800"/>
            <a:ext cx="1399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l’équipe : « Arbre à travail » pour les deux postes fixes, complété par deux ou trois « Abattants » dans le mur de la collection pour les jours d’affluence.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postes de travail, modèle A « Arbre à travail »</a:t>
            </a:r>
            <a:endParaRPr lang="en-US" sz="3400" dirty="0"/>
          </a:p>
        </p:txBody>
      </p:sp>
      <p:pic>
        <p:nvPicPr>
          <p:cNvPr id="3" name="image S_VAR_V4_A" descr="« Arbre à travail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4_A" descr="Axonométrie « Arbre à travail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recommandé"/>
          <p:cNvSpPr/>
          <p:nvPr/>
        </p:nvSpPr>
        <p:spPr>
          <a:xfrm>
            <a:off x="9966960" y="132588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966960" y="14081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 PAR L’EQUIPE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poteau est habillé de lattes de noyer et devient un meuble : tablette pour deux, séparateur en feutre, étagère et deux lampes en laiton. On transforme une contrainte en pièce signature.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Valorise le poteau existant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places sans surface en plus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Prises intégrées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places seulement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postes de travail, modèle B « Bureau à oreilles »</a:t>
            </a:r>
            <a:endParaRPr lang="en-US" sz="3400" dirty="0"/>
          </a:p>
        </p:txBody>
      </p:sp>
      <p:pic>
        <p:nvPicPr>
          <p:cNvPr id="3" name="image S_VAR_V4_B" descr="« Bureau à oreilles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4_B" descr="Axonométrie « Bureau à oreilles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petit bureau de 0,90 × 0,55 m avec des joues en feutre qui isolent du bruit, une étagère et une lampe.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Concentration, acoustique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Mobile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Prend de la place au sol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postes de travail, modèle C « Abattant »</a:t>
            </a:r>
            <a:endParaRPr lang="en-US" sz="3400" dirty="0"/>
          </a:p>
        </p:txBody>
      </p:sp>
      <p:pic>
        <p:nvPicPr>
          <p:cNvPr id="3" name="image S_VAR_V4_C" descr="« Abattant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4_C" descr="Axonométrie « Abattant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recommandé"/>
          <p:cNvSpPr/>
          <p:nvPr/>
        </p:nvSpPr>
        <p:spPr>
          <a:xfrm>
            <a:off x="9966960" y="1325880"/>
            <a:ext cx="2926080" cy="384048"/>
          </a:xfrm>
          <a:prstGeom prst="roundRect">
            <a:avLst>
              <a:gd name="adj" fmla="val 19048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966960" y="1408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EN COMPLEMENT DU MODELE A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Certains modules du mur de la collection cachent un abattant : on l’ouvre, on s’assoit, on travaille au milieu des livres ; on le referme le soir.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Postes en plus sans surface au sol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Tout à fait dans le concept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Places à la demande, sans lampe dédiée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modèle recommandé en détail : les postes de travail</a:t>
            </a:r>
            <a:endParaRPr lang="en-US" sz="3400" dirty="0"/>
          </a:p>
        </p:txBody>
      </p:sp>
      <p:pic>
        <p:nvPicPr>
          <p:cNvPr id="3" name="image M08_poste_arbre_a_travail" descr="Fiche Les postes de trav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6014" y="1188720"/>
            <a:ext cx="11615572" cy="813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9464040"/>
            <a:ext cx="1399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l’équipe : « Arbre à travail » pour les deux postes fixes, complété par deux ou trois « Abattants » dans le mur de la collection pour les jours d’affluence.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assises : le fauteuil de lecture « Madame »</a:t>
            </a:r>
            <a:endParaRPr lang="en-US" sz="3400" dirty="0"/>
          </a:p>
        </p:txBody>
      </p:sp>
      <p:pic>
        <p:nvPicPr>
          <p:cNvPr id="3" name="image S_REN_M04" descr="Les assises : le fauteuil de lecture « Madam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120640" cy="7863840"/>
          </a:xfrm>
          <a:prstGeom prst="rect">
            <a:avLst/>
          </a:prstGeom>
        </p:spPr>
      </p:pic>
      <p:pic>
        <p:nvPicPr>
          <p:cNvPr id="4" name="image M04_fauteuil_lecture" descr="Les assises : le fauteuil de lecture « Madam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8595360" cy="569979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9235440"/>
            <a:ext cx="1399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 le salon de lecture : quatre fauteuils bas, noyer et velours cognac ou olive.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assises : la chaise de table d’hôtes et de réunion</a:t>
            </a:r>
            <a:endParaRPr lang="en-US" sz="3400" dirty="0"/>
          </a:p>
        </p:txBody>
      </p:sp>
      <p:pic>
        <p:nvPicPr>
          <p:cNvPr id="3" name="image S_REN_M05" descr="Les assises : la chaise de table d’hôtes et de réun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120640" cy="7863840"/>
          </a:xfrm>
          <a:prstGeom prst="rect">
            <a:avLst/>
          </a:prstGeom>
        </p:spPr>
      </p:pic>
      <p:pic>
        <p:nvPicPr>
          <p:cNvPr id="4" name="image M05_chaise" descr="Les assises : la chaise de table d’hôtes et de réun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8595360" cy="569979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9235440"/>
            <a:ext cx="1399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même chaise sert à la table d’hôtes et en salle de réunion.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assises : le fauteuil bas de terrasse (option)</a:t>
            </a:r>
            <a:endParaRPr lang="en-US" sz="3400" dirty="0"/>
          </a:p>
        </p:txBody>
      </p:sp>
      <p:pic>
        <p:nvPicPr>
          <p:cNvPr id="3" name="image S_REN_M06" descr="Les assises : le fauteuil bas de terrasse (option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120640" cy="7863840"/>
          </a:xfrm>
          <a:prstGeom prst="rect">
            <a:avLst/>
          </a:prstGeom>
        </p:spPr>
      </p:pic>
      <p:pic>
        <p:nvPicPr>
          <p:cNvPr id="4" name="image M06_fauteuil_terrasse" descr="Les assises : le fauteuil bas de terrasse (option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8595360" cy="578575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9235440"/>
            <a:ext cx="1399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dessinée par l’équipe pour la terrasse, si les chaises ÖVERALLT ne peuvent pas être fabriquées.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assises : la chaise ÖVERALLT d’Issa Diabaté</a:t>
            </a:r>
            <a:endParaRPr lang="en-US" sz="3400" dirty="0"/>
          </a:p>
        </p:txBody>
      </p:sp>
      <p:pic>
        <p:nvPicPr>
          <p:cNvPr id="3" name="image S_REN_M07" descr="Les assises : la chaise ÖVERALLT d’Issa Diabat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120640" cy="7863840"/>
          </a:xfrm>
          <a:prstGeom prst="rect">
            <a:avLst/>
          </a:prstGeom>
        </p:spPr>
      </p:pic>
      <p:pic>
        <p:nvPicPr>
          <p:cNvPr id="4" name="image M07_chaise_overallt_issa_diabate" descr="Les assises : la chaise ÖVERALLT d’Issa Diabat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8595360" cy="685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9235440"/>
            <a:ext cx="1399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chaise ÖVERALLT (Issa Diabaté et Kevin Gouriou, IKEA 2019) est une œuvre protégée par le droit d’auteur. Elle est figurée ici par son volume ; sa fabrication à Abidjan demande l’accord de ses auteurs et d’IKEA.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Toutes les options, en un coup d’œil</a:t>
            </a:r>
            <a:endParaRPr lang="en-US" sz="34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39903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6217920"/>
                <a:gridCol w="41148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SUJET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OPTIONS PRESENTEES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RECOMMANDATION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Bibliothèque du mur de la collection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 « Kente » · B « Claustra » · C « Lutrin »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A, avec le bandeau-lutrin de C près de l’entrée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Meuble d’accueil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 « Enfilade » · B « Secrétaire » · C « Comptoir-bibliothèque »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B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Table de réunion (9 places)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 « Compas » · B « Pirogue » · C « Tréteaux »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B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Postes de travail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 « Arbre à travail » · B « Bureau à oreilles » · C « Abattant »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A, complété par C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Assises de terrasse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Chaise ÖVERALLT (sous accord des auteurs) · fauteuil bas de terrasse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ÖVERALLT si l’accord est obtenu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Couverture de la pergola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Lames ajourées seules · lames + toile tendue amovible · lames + plaques translucides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À décider selon l’usage en saison des pluies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Ambiance générale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Direction A « Le salon de Madame » · Direction B « Sous le badamier »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 ; le claustra en dos de livres de B reste possible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WC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Deux WC (salle louée + public) · un seul WC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Deux WC, pour louer la salle de réunion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8229600"/>
            <a:ext cx="1399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Chaque option est dessinée à l’échelle du plan : on peut en changer sans reprendre l’aménagement. Les prix seront établis après le choix, sur consultation des artisans.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L’autre direction : « Sous le badamier »</a:t>
            </a:r>
            <a:endParaRPr lang="en-US" sz="3400" dirty="0"/>
          </a:p>
        </p:txBody>
      </p:sp>
      <p:pic>
        <p:nvPicPr>
          <p:cNvPr id="3" name="image B1" descr="Croquis B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903720" cy="3774034"/>
          </a:xfrm>
          <a:prstGeom prst="rect">
            <a:avLst/>
          </a:prstGeom>
        </p:spPr>
      </p:pic>
      <p:pic>
        <p:nvPicPr>
          <p:cNvPr id="4" name="image B2" descr="Croquis B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188720"/>
            <a:ext cx="6903720" cy="477949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7315200"/>
            <a:ext cx="1399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modernisme tropical : claustras, bois clair, plantes et lumière filtrée, comme sous le grand arbre du site.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ruban de rayonnages court de la salle jusqu’à la terrasse ; la façade devient une lanterne la nuit.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Étudiée et non retenue pour l’ambiance générale ; son claustra en dos de livres peut s’intégrer à la direction 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9326880"/>
            <a:ext cx="1399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Croquis B1 et B2 de Dizzy : dessins de principe générés par script (rôle IA), sans valeur de plan.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Électricité et éclairage tamisé</a:t>
            </a:r>
            <a:endParaRPr lang="en-US" sz="3400" dirty="0"/>
          </a:p>
        </p:txBody>
      </p:sp>
      <p:pic>
        <p:nvPicPr>
          <p:cNvPr id="3" name="image T01" descr="Plan T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448800" cy="8503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60704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PRINCIPES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0607040" y="1737360"/>
            <a:ext cx="393192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Installation entièrement neuve, tableau près de l’entrée.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Trois scènes : jour, soir tamisé (≈ 30 %), fermeture.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Lumière 2 700 K gradable ; ≈ 300 lux sur les tables.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≈ 12 kW installés, ≈ 8,5 kW foisonnés : abonnement à voir avec la CIE.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8778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Schéma de principe à faire valider par un bureau d’études et les concessionnaires.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Plomberie</a:t>
            </a:r>
            <a:endParaRPr lang="en-US" sz="3400" dirty="0"/>
          </a:p>
        </p:txBody>
      </p:sp>
      <p:pic>
        <p:nvPicPr>
          <p:cNvPr id="3" name="image T02" descr="Plan T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448800" cy="8503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60704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PRINCIPES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0607040" y="1737360"/>
            <a:ext cx="393192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deux WC partagent une évacuation au fond.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L’évier du café, à 6,3 m de la chute, passe par une pompe de relevage.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Évier, pompe et chauffe-eau seulement si l’on prépare et lave sur place.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8778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Schéma de principe à faire valider par un bureau d’études et les concessionnaires.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Climatisation et ventilation</a:t>
            </a:r>
            <a:endParaRPr lang="en-US" sz="3400" dirty="0"/>
          </a:p>
        </p:txBody>
      </p:sp>
      <p:pic>
        <p:nvPicPr>
          <p:cNvPr id="3" name="image T03" descr="Plan T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448800" cy="8503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60704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PRINCIPES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0607040" y="1737360"/>
            <a:ext cx="393192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Trois climatiseurs muraux (≈ 11,5 kW de froid).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Extraction mécanique des WC ; brasseurs d’air sous la pergola.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Groupes extérieurs proposés sur le mur nord : accès, bruit et accord de la copropriété à valider.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8778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Schéma de principe à faire valider par un bureau d’études et les concessionnaires.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Avant de chiffrer et de construire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POINTS A VALIDER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949440" cy="777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Mur à démolir : avis d’un ingénieur structure (immeuble habité au-dessus). S’il est porteur, une poutre de reprise d’environ 5 m reste possible.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Copropriété : accord pour la démolition, la terrasse prolongée, la pergola fixée en façade et les groupes de climatisation.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Relevé au laser : profondeur, façade d’angle à angle, hauteurs, réseaux et descentes existants.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Réglementation locale : accueil du public, sens d’ouverture de la porte, accessibilité du seuil et du WC, licence de boissons, bruit du soir.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Exploitation du café : évier, pompe et chauffe-eau seulement si l’on prépare et lave sur place.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Chaises ÖVERALLT : œuvre protégée par le droit d’auteur ; accord d’Issa Diabaté, de Kevin Gouriou et d’IKEA avant toute fabrication locale.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25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PROCHAINES ETAPES</a:t>
            </a:r>
            <a:endParaRPr lang="en-US" sz="1100" dirty="0"/>
          </a:p>
        </p:txBody>
      </p:sp>
      <p:sp>
        <p:nvSpPr>
          <p:cNvPr id="6" name="étape 1"/>
          <p:cNvSpPr/>
          <p:nvPr/>
        </p:nvSpPr>
        <p:spPr>
          <a:xfrm>
            <a:off x="8138160" y="1783080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38160" y="189280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15400" y="18013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Validation de l’esquisse par Madame Nandjui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15400" y="2240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plan E01, mobilier, terrasse</a:t>
            </a:r>
            <a:endParaRPr lang="en-US" sz="1300" dirty="0"/>
          </a:p>
        </p:txBody>
      </p:sp>
      <p:sp>
        <p:nvSpPr>
          <p:cNvPr id="10" name="étape 2"/>
          <p:cNvSpPr/>
          <p:nvPr/>
        </p:nvSpPr>
        <p:spPr>
          <a:xfrm>
            <a:off x="8138160" y="3044952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31546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Relevé et diagnostic structure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0215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laser, sondage du mur, réseaux</a:t>
            </a:r>
            <a:endParaRPr lang="en-US" sz="1300" dirty="0"/>
          </a:p>
        </p:txBody>
      </p:sp>
      <p:sp>
        <p:nvSpPr>
          <p:cNvPr id="14" name="étape 3"/>
          <p:cNvSpPr/>
          <p:nvPr/>
        </p:nvSpPr>
        <p:spPr>
          <a:xfrm>
            <a:off x="8138160" y="4306824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38160" y="4416552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3251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Avant-projet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476402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plans cotés, détails du mobilier, maquette recalée</a:t>
            </a:r>
            <a:endParaRPr lang="en-US" sz="1300" dirty="0"/>
          </a:p>
        </p:txBody>
      </p:sp>
      <p:sp>
        <p:nvSpPr>
          <p:cNvPr id="18" name="étape 4"/>
          <p:cNvSpPr/>
          <p:nvPr/>
        </p:nvSpPr>
        <p:spPr>
          <a:xfrm>
            <a:off x="8138160" y="5568696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56784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915400" y="558698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Consultation des artisans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602589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ébéniste, tapissier, métallier, électricien, plombier</a:t>
            </a:r>
            <a:endParaRPr lang="en-US" sz="1300" dirty="0"/>
          </a:p>
        </p:txBody>
      </p:sp>
      <p:sp>
        <p:nvSpPr>
          <p:cNvPr id="22" name="étape 5"/>
          <p:cNvSpPr/>
          <p:nvPr/>
        </p:nvSpPr>
        <p:spPr>
          <a:xfrm>
            <a:off x="8138160" y="6830568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38160" y="694029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68488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Prototypes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915400" y="72877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fauteuil, chaise, rideau à lattes, échelle</a:t>
            </a:r>
            <a:endParaRPr lang="en-US" sz="1300" dirty="0"/>
          </a:p>
        </p:txBody>
      </p:sp>
      <p:sp>
        <p:nvSpPr>
          <p:cNvPr id="26" name="étape 6"/>
          <p:cNvSpPr/>
          <p:nvPr/>
        </p:nvSpPr>
        <p:spPr>
          <a:xfrm>
            <a:off x="8138160" y="8092440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38160" y="820216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915400" y="81107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Travaux et installation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915400" y="85496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après autorisations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Méthode, maquette et sources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SEULE GEOMETRIE POUR TOUT LE DOSSIER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7665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Plans, coupes, vues 3D, perspectives et fiches mobilier sont calculés depuis les mêmes scripts.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Maquette NANDJUI_ESQ_V8.ifc (IFC4) : 0 erreur à la validation, 112 objets géométriques, statut de chaque objet (mesuré, estimé, proposé, à démolir).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Ouverture dans Revit non testée ; objets en volumes simples, pas en familles natives.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rendus réalistes sont calculés depuis la maquette (Blender Cycles) : matériaux et éclairage de principe, mobilier figuré par ses volumes. Les croquis sont des dessins de principe générés par script.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63840" y="13258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L’EQUIPE ARCHITECTURALE (ROLES IA)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863840" y="173736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Guillaume (G-K) : coordination.  Dizzy : direction artistique.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Désiré Akai : aménagement et mobilier.  Manadja : maquette et contrôle DAO.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Génie : études techniques.  Fabrice Sawegnon : dossier.  Josiane : relecture.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38404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Ces noms désignent des rôles de travail d’une IA, pas des personnes ; ils ne remplacent ni un architecte inscrit à l’Ordre, ni un bureau d’études agréé, ni les autorisations administratives.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493776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REFERENCES MOBILIER CONSULTEES LE 16 OCTOBRE 2026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5349240"/>
            <a:ext cx="6675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Pierre Jeanneret (Vitra Design Museum, Merit) · Sergio Rodrigues (Metropolitan Museum of Art) · Charlotte Perriand (Cassina, Phillips) · Hans J. Wegner (Skandium) · George Nakashima (Baltimore Museum of Art) · Cheick Diallo (InCollect) · Jean Servais Somian (Forbes Afrique) · Issa Diabaté et IKEA ÖVERALLT (Dezeen, Domus, Chairish) · Pieter Peulen (Gubi). Liste complète et liens : v8/mobilier/REFERENCES.csv.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ndjui mid-century">
  <a:themeElements>
    <a:clrScheme name="Nandjui mid-century">
      <a:dk1>
        <a:srgbClr val="231C17"/>
      </a:dk1>
      <a:lt1>
        <a:srgbClr val="FFFFFF"/>
      </a:lt1>
      <a:dk2>
        <a:srgbClr val="5E5047"/>
      </a:dk2>
      <a:lt2>
        <a:srgbClr val="F4EFE6"/>
      </a:lt2>
      <a:accent1>
        <a:srgbClr val="A85F2C"/>
      </a:accent1>
      <a:accent2>
        <a:srgbClr val="56613A"/>
      </a:accent2>
      <a:accent3>
        <a:srgbClr val="7A4A2A"/>
      </a:accent3>
      <a:accent4>
        <a:srgbClr val="C9962E"/>
      </a:accent4>
      <a:accent5>
        <a:srgbClr val="5E5047"/>
      </a:accent5>
      <a:accent6>
        <a:srgbClr val="B5432C"/>
      </a:accent6>
      <a:hlink>
        <a:srgbClr val="56613A"/>
      </a:hlink>
      <a:folHlink>
        <a:srgbClr val="5E5047"/>
      </a:folHlink>
    </a:clrScheme>
    <a:fontScheme name="Nandjui mid-century">
      <a:majorFont>
        <a:latin typeface="Cormorant 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Jo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Café-bibliothèque Nandjui · esquisse V8</dc:title>
  <dc:subject>PptxGenJS Presentation</dc:subject>
  <dc:creator>L’équipe architecturale (rôles IA)</dc:creator>
  <cp:lastModifiedBy>L’équipe architecturale (rôles IA)</cp:lastModifiedBy>
  <cp:revision>1</cp:revision>
  <dcterms:created xsi:type="dcterms:W3CDTF">2026-10-16T09:31:47Z</dcterms:created>
  <dcterms:modified xsi:type="dcterms:W3CDTF">2026-10-16T09:31:47Z</dcterms:modified>
</cp:coreProperties>
</file>